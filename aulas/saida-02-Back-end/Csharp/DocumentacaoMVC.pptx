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8" r:id="rId1"/>
  </p:sldMasterIdLst>
  <p:notesMasterIdLst>
    <p:notesMasterId r:id="rId71"/>
  </p:notesMasterIdLst>
  <p:sldIdLst>
    <p:sldId id="256" r:id="rId2"/>
    <p:sldId id="301" r:id="rId3"/>
    <p:sldId id="259" r:id="rId4"/>
    <p:sldId id="260" r:id="rId5"/>
    <p:sldId id="258" r:id="rId6"/>
    <p:sldId id="262" r:id="rId7"/>
    <p:sldId id="263" r:id="rId8"/>
    <p:sldId id="264" r:id="rId9"/>
    <p:sldId id="265" r:id="rId10"/>
    <p:sldId id="267" r:id="rId11"/>
    <p:sldId id="266" r:id="rId12"/>
    <p:sldId id="268" r:id="rId13"/>
    <p:sldId id="269" r:id="rId14"/>
    <p:sldId id="271" r:id="rId15"/>
    <p:sldId id="270" r:id="rId16"/>
    <p:sldId id="272" r:id="rId17"/>
    <p:sldId id="273" r:id="rId18"/>
    <p:sldId id="276" r:id="rId19"/>
    <p:sldId id="274" r:id="rId20"/>
    <p:sldId id="275" r:id="rId21"/>
    <p:sldId id="277" r:id="rId22"/>
    <p:sldId id="278" r:id="rId23"/>
    <p:sldId id="279" r:id="rId24"/>
    <p:sldId id="280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5" r:id="rId56"/>
    <p:sldId id="314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4" r:id="rId65"/>
    <p:sldId id="323" r:id="rId66"/>
    <p:sldId id="325" r:id="rId67"/>
    <p:sldId id="326" r:id="rId68"/>
    <p:sldId id="327" r:id="rId69"/>
    <p:sldId id="328" r:id="rId7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sem Título" id="{C49AC9D6-93E9-4EC6-9D15-1CBC531AD4FE}">
          <p14:sldIdLst>
            <p14:sldId id="256"/>
            <p14:sldId id="301"/>
            <p14:sldId id="259"/>
            <p14:sldId id="260"/>
            <p14:sldId id="258"/>
            <p14:sldId id="262"/>
            <p14:sldId id="263"/>
            <p14:sldId id="264"/>
            <p14:sldId id="265"/>
            <p14:sldId id="267"/>
            <p14:sldId id="266"/>
            <p14:sldId id="268"/>
            <p14:sldId id="269"/>
            <p14:sldId id="271"/>
            <p14:sldId id="270"/>
            <p14:sldId id="272"/>
            <p14:sldId id="273"/>
            <p14:sldId id="276"/>
            <p14:sldId id="274"/>
            <p14:sldId id="275"/>
            <p14:sldId id="277"/>
            <p14:sldId id="278"/>
            <p14:sldId id="279"/>
            <p14:sldId id="280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5"/>
            <p14:sldId id="314"/>
            <p14:sldId id="316"/>
            <p14:sldId id="317"/>
            <p14:sldId id="318"/>
            <p14:sldId id="319"/>
            <p14:sldId id="320"/>
            <p14:sldId id="321"/>
            <p14:sldId id="322"/>
            <p14:sldId id="324"/>
            <p14:sldId id="323"/>
            <p14:sldId id="325"/>
            <p14:sldId id="326"/>
            <p14:sldId id="327"/>
            <p14:sldId id="32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  <a:srgbClr val="4C0000"/>
    <a:srgbClr val="2A0000"/>
    <a:srgbClr val="800000"/>
    <a:srgbClr val="420000"/>
    <a:srgbClr val="66FFFF"/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32A6E9-356A-4314-B2E1-700A32F4600D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8A745-5B7C-4A55-BE09-22938B0BAB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2806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41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6836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286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4879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11501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97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7927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623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8119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3644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1831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5280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85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54331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0948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32009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9543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26480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628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0">
              <a:schemeClr val="bg1">
                <a:lumMod val="100000"/>
              </a:schemeClr>
            </a:gs>
            <a:gs pos="0">
              <a:srgbClr val="4C0000"/>
            </a:gs>
          </a:gsLst>
          <a:path path="circle">
            <a:fillToRect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C2F9D8F-1C23-41D0-8943-647BAEDF74E8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5185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  <p:sldLayoutId id="2147483940" r:id="rId12"/>
    <p:sldLayoutId id="2147483941" r:id="rId13"/>
    <p:sldLayoutId id="2147483942" r:id="rId14"/>
    <p:sldLayoutId id="2147483943" r:id="rId15"/>
    <p:sldLayoutId id="2147483944" r:id="rId16"/>
    <p:sldLayoutId id="2147483945" r:id="rId17"/>
    <p:sldLayoutId id="214748394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B504329-8C2D-475E-C95B-D8E3A71D29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Projeto do </a:t>
            </a:r>
            <a:r>
              <a:rPr lang="pt-BR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Zero</a:t>
            </a:r>
            <a:r>
              <a:rPr lang="pt-B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Flow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211DF8E0-A42E-1786-7240-5DA464FE7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Documentação</a:t>
            </a:r>
            <a:r>
              <a:rPr lang="pt-BR" dirty="0"/>
              <a:t> </a:t>
            </a:r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MVC</a:t>
            </a:r>
          </a:p>
        </p:txBody>
      </p:sp>
    </p:spTree>
    <p:extLst>
      <p:ext uri="{BB962C8B-B14F-4D97-AF65-F5344CB8AC3E}">
        <p14:creationId xmlns:p14="http://schemas.microsoft.com/office/powerpoint/2010/main" val="2371087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3CC3A3-4E41-242F-9462-291C7CFCE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highlight>
                  <a:srgbClr val="FFFF00"/>
                </a:highlight>
              </a:rPr>
              <a:t>Observações – 01: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26DB37-B985-B1A1-5C49-31A266488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35609"/>
            <a:ext cx="9437658" cy="192023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Polimorfismo: quando você tem dois métodos e precisa fazer uma sobrecarga</a:t>
            </a:r>
          </a:p>
          <a:p>
            <a:pPr marL="457200" lvl="1" indent="0">
              <a:buNone/>
            </a:pPr>
            <a:r>
              <a:rPr lang="pt-BR" dirty="0">
                <a:solidFill>
                  <a:schemeClr val="tx1"/>
                </a:solidFill>
              </a:rPr>
              <a:t>Método() – isso é um método</a:t>
            </a:r>
          </a:p>
          <a:p>
            <a:pPr marL="457200" lvl="1" indent="0">
              <a:buNone/>
            </a:pPr>
            <a:r>
              <a:rPr lang="pt-BR" dirty="0">
                <a:solidFill>
                  <a:schemeClr val="tx1"/>
                </a:solidFill>
              </a:rPr>
              <a:t>Método(int id) – isso é um método com sobrecarga</a:t>
            </a:r>
          </a:p>
          <a:p>
            <a:pPr marL="914400" lvl="2" indent="0">
              <a:buNone/>
            </a:pPr>
            <a:r>
              <a:rPr lang="pt-BR" dirty="0">
                <a:solidFill>
                  <a:schemeClr val="tx1"/>
                </a:solidFill>
              </a:rPr>
              <a:t>É o mesmo método fazendo duas funções diferentes, uma tendo sua função normal e outra se baseando no id por exemplo</a:t>
            </a:r>
          </a:p>
        </p:txBody>
      </p:sp>
    </p:spTree>
    <p:extLst>
      <p:ext uri="{BB962C8B-B14F-4D97-AF65-F5344CB8AC3E}">
        <p14:creationId xmlns:p14="http://schemas.microsoft.com/office/powerpoint/2010/main" val="2779110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1E3E9-C827-7EAB-289B-C2813C04A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994AD6B-0A76-C3ED-1FC5-A5341D34B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Criar Projeto</a:t>
            </a: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CA92CBE5-3AF3-3D2C-67BD-FEE227FE4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872" y="1853900"/>
            <a:ext cx="8594725" cy="86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16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A8258-3451-7A8A-460C-BCF02131F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17AAEBF-F76F-FCBB-81E9-34F311E27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pt-BR" dirty="0"/>
            </a:br>
            <a:br>
              <a:rPr lang="pt-BR" dirty="0"/>
            </a:br>
            <a:r>
              <a:rPr lang="pt-BR" dirty="0">
                <a:solidFill>
                  <a:schemeClr val="bg1"/>
                </a:solidFill>
                <a:highlight>
                  <a:srgbClr val="FFFF00"/>
                </a:highlight>
              </a:rPr>
              <a:t>Definição dos espaços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C028D79-12BA-F74C-B63E-F927577185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962"/>
          <a:stretch>
            <a:fillRect/>
          </a:stretch>
        </p:blipFill>
        <p:spPr>
          <a:xfrm>
            <a:off x="1330401" y="2442282"/>
            <a:ext cx="3267531" cy="278130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F999E2C7-9E12-EAF0-C407-5E7FAAF50438}"/>
              </a:ext>
            </a:extLst>
          </p:cNvPr>
          <p:cNvGrpSpPr/>
          <p:nvPr/>
        </p:nvGrpSpPr>
        <p:grpSpPr>
          <a:xfrm>
            <a:off x="2600324" y="4013993"/>
            <a:ext cx="8708188" cy="276999"/>
            <a:chOff x="2693237" y="3987284"/>
            <a:chExt cx="8708188" cy="276999"/>
          </a:xfrm>
        </p:grpSpPr>
        <p:cxnSp>
          <p:nvCxnSpPr>
            <p:cNvPr id="5" name="Conector de Seta Reta 4">
              <a:extLst>
                <a:ext uri="{FF2B5EF4-FFF2-40B4-BE49-F238E27FC236}">
                  <a16:creationId xmlns:a16="http://schemas.microsoft.com/office/drawing/2014/main" id="{237C6CAD-B83F-182B-4B0D-07E6E297657A}"/>
                </a:ext>
              </a:extLst>
            </p:cNvPr>
            <p:cNvCxnSpPr>
              <a:cxnSpLocks/>
            </p:cNvCxnSpPr>
            <p:nvPr/>
          </p:nvCxnSpPr>
          <p:spPr>
            <a:xfrm>
              <a:off x="2693237" y="4125784"/>
              <a:ext cx="2583614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47E4A13-F0A1-76E2-5925-A4DFB05FBA33}"/>
                </a:ext>
              </a:extLst>
            </p:cNvPr>
            <p:cNvSpPr txBox="1"/>
            <p:nvPr/>
          </p:nvSpPr>
          <p:spPr>
            <a:xfrm>
              <a:off x="5276851" y="3987284"/>
              <a:ext cx="6124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/>
                <a:t>Contém arquivos estáticos </a:t>
              </a:r>
              <a:r>
                <a:rPr lang="pt-BR" sz="1200" dirty="0" err="1"/>
                <a:t>Lib</a:t>
              </a:r>
              <a:r>
                <a:rPr lang="pt-BR" sz="1200" dirty="0"/>
                <a:t>, </a:t>
              </a:r>
              <a:r>
                <a:rPr lang="pt-BR" sz="1200" dirty="0" err="1"/>
                <a:t>Bootstrap</a:t>
              </a:r>
              <a:r>
                <a:rPr lang="pt-BR" sz="1200" dirty="0"/>
                <a:t> (Front do projeto)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C83DF4ED-9BA9-8357-3006-66758DBCC9B3}"/>
              </a:ext>
            </a:extLst>
          </p:cNvPr>
          <p:cNvGrpSpPr/>
          <p:nvPr/>
        </p:nvGrpSpPr>
        <p:grpSpPr>
          <a:xfrm>
            <a:off x="2600324" y="4217709"/>
            <a:ext cx="8708188" cy="261610"/>
            <a:chOff x="2693237" y="3987284"/>
            <a:chExt cx="8708188" cy="261610"/>
          </a:xfrm>
        </p:grpSpPr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42E6976D-960A-2E67-ECDF-555A91B7B9AF}"/>
                </a:ext>
              </a:extLst>
            </p:cNvPr>
            <p:cNvCxnSpPr>
              <a:cxnSpLocks/>
            </p:cNvCxnSpPr>
            <p:nvPr/>
          </p:nvCxnSpPr>
          <p:spPr>
            <a:xfrm>
              <a:off x="2693237" y="4124439"/>
              <a:ext cx="2577263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0A6DC36F-00AD-2D81-E049-B2F9BD7D66EA}"/>
                </a:ext>
              </a:extLst>
            </p:cNvPr>
            <p:cNvSpPr txBox="1"/>
            <p:nvPr/>
          </p:nvSpPr>
          <p:spPr>
            <a:xfrm>
              <a:off x="5276850" y="3987284"/>
              <a:ext cx="61245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dirty="0"/>
                <a:t>Responsável pelo código de acesso aos dados e toda lógica de persistência na base de dados</a:t>
              </a: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40E22C4-2071-5C5E-F792-09EA2AC04AB1}"/>
              </a:ext>
            </a:extLst>
          </p:cNvPr>
          <p:cNvGrpSpPr/>
          <p:nvPr/>
        </p:nvGrpSpPr>
        <p:grpSpPr>
          <a:xfrm>
            <a:off x="2419350" y="4390562"/>
            <a:ext cx="8889162" cy="276999"/>
            <a:chOff x="2595651" y="3972044"/>
            <a:chExt cx="8889162" cy="276999"/>
          </a:xfrm>
        </p:grpSpPr>
        <p:cxnSp>
          <p:nvCxnSpPr>
            <p:cNvPr id="25" name="Conector de Seta Reta 24">
              <a:extLst>
                <a:ext uri="{FF2B5EF4-FFF2-40B4-BE49-F238E27FC236}">
                  <a16:creationId xmlns:a16="http://schemas.microsoft.com/office/drawing/2014/main" id="{911180B0-89D7-28A0-04B8-E72D182FDE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5651" y="4109909"/>
              <a:ext cx="2764586" cy="2087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F638CD47-B7E4-C3DC-04B3-0E7361169C96}"/>
                </a:ext>
              </a:extLst>
            </p:cNvPr>
            <p:cNvSpPr txBox="1"/>
            <p:nvPr/>
          </p:nvSpPr>
          <p:spPr>
            <a:xfrm>
              <a:off x="5360237" y="3972044"/>
              <a:ext cx="61245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/>
                <a:t>Responsável pelo nossos modelos de domínio do negócio (entidades/tabelas)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13780770-4796-9F56-284F-E6C7773EED5D}"/>
              </a:ext>
            </a:extLst>
          </p:cNvPr>
          <p:cNvGrpSpPr/>
          <p:nvPr/>
        </p:nvGrpSpPr>
        <p:grpSpPr>
          <a:xfrm>
            <a:off x="2334768" y="4575271"/>
            <a:ext cx="8973744" cy="276999"/>
            <a:chOff x="2511069" y="3987284"/>
            <a:chExt cx="8973744" cy="276999"/>
          </a:xfrm>
        </p:grpSpPr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F4D03D0A-BED9-6687-4EAE-FCE2FED1F003}"/>
                </a:ext>
              </a:extLst>
            </p:cNvPr>
            <p:cNvCxnSpPr>
              <a:cxnSpLocks/>
            </p:cNvCxnSpPr>
            <p:nvPr/>
          </p:nvCxnSpPr>
          <p:spPr>
            <a:xfrm>
              <a:off x="2511069" y="4125784"/>
              <a:ext cx="2849168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A7C623C-4006-9F65-B398-56CFC04436CA}"/>
                </a:ext>
              </a:extLst>
            </p:cNvPr>
            <p:cNvSpPr txBox="1"/>
            <p:nvPr/>
          </p:nvSpPr>
          <p:spPr>
            <a:xfrm>
              <a:off x="5360237" y="3987284"/>
              <a:ext cx="61245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/>
                <a:t>Responsável pela exibição dos dados para interação do usuário</a:t>
              </a:r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DF4BD5F8-8DCA-C4F3-B13E-C61E3E153666}"/>
              </a:ext>
            </a:extLst>
          </p:cNvPr>
          <p:cNvGrpSpPr/>
          <p:nvPr/>
        </p:nvGrpSpPr>
        <p:grpSpPr>
          <a:xfrm>
            <a:off x="2849880" y="4765976"/>
            <a:ext cx="8458632" cy="230832"/>
            <a:chOff x="3026181" y="3987284"/>
            <a:chExt cx="8458632" cy="230832"/>
          </a:xfrm>
        </p:grpSpPr>
        <p:cxnSp>
          <p:nvCxnSpPr>
            <p:cNvPr id="44" name="Conector de Seta Reta 43">
              <a:extLst>
                <a:ext uri="{FF2B5EF4-FFF2-40B4-BE49-F238E27FC236}">
                  <a16:creationId xmlns:a16="http://schemas.microsoft.com/office/drawing/2014/main" id="{9C9CF827-1114-2B74-2CD9-E34C9B04BDB2}"/>
                </a:ext>
              </a:extLst>
            </p:cNvPr>
            <p:cNvCxnSpPr>
              <a:cxnSpLocks/>
            </p:cNvCxnSpPr>
            <p:nvPr/>
          </p:nvCxnSpPr>
          <p:spPr>
            <a:xfrm>
              <a:off x="3026181" y="4125784"/>
              <a:ext cx="2334056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16592142-CE08-4B43-F294-0653F891ED6F}"/>
                </a:ext>
              </a:extLst>
            </p:cNvPr>
            <p:cNvSpPr txBox="1"/>
            <p:nvPr/>
          </p:nvSpPr>
          <p:spPr>
            <a:xfrm>
              <a:off x="5360237" y="3987284"/>
              <a:ext cx="61245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dirty="0"/>
                <a:t>Responsável pela </a:t>
              </a:r>
              <a:r>
                <a:rPr lang="pt-BR" sz="900" dirty="0" err="1"/>
                <a:t>string</a:t>
              </a:r>
              <a:r>
                <a:rPr lang="pt-BR" sz="900" dirty="0"/>
                <a:t> de conexão com a base de dados (um arquivo JSON) ambiente de desenvolvimento</a:t>
              </a:r>
            </a:p>
          </p:txBody>
        </p:sp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AF565788-4FE1-3546-F344-DC6B447DD54F}"/>
              </a:ext>
            </a:extLst>
          </p:cNvPr>
          <p:cNvGrpSpPr/>
          <p:nvPr/>
        </p:nvGrpSpPr>
        <p:grpSpPr>
          <a:xfrm>
            <a:off x="2674620" y="4948277"/>
            <a:ext cx="8633892" cy="276999"/>
            <a:chOff x="2850921" y="3987284"/>
            <a:chExt cx="8633892" cy="276999"/>
          </a:xfrm>
        </p:grpSpPr>
        <p:cxnSp>
          <p:nvCxnSpPr>
            <p:cNvPr id="48" name="Conector de Seta Reta 47">
              <a:extLst>
                <a:ext uri="{FF2B5EF4-FFF2-40B4-BE49-F238E27FC236}">
                  <a16:creationId xmlns:a16="http://schemas.microsoft.com/office/drawing/2014/main" id="{B6F1DD4A-5FEA-F06D-B05B-1D2E45BF8188}"/>
                </a:ext>
              </a:extLst>
            </p:cNvPr>
            <p:cNvCxnSpPr>
              <a:cxnSpLocks/>
            </p:cNvCxnSpPr>
            <p:nvPr/>
          </p:nvCxnSpPr>
          <p:spPr>
            <a:xfrm>
              <a:off x="2850921" y="4125783"/>
              <a:ext cx="2509316" cy="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434466F0-784F-6C94-8665-E242224751D4}"/>
                </a:ext>
              </a:extLst>
            </p:cNvPr>
            <p:cNvSpPr txBox="1"/>
            <p:nvPr/>
          </p:nvSpPr>
          <p:spPr>
            <a:xfrm>
              <a:off x="5360237" y="3987284"/>
              <a:ext cx="61245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/>
                <a:t>Responsável pela configuração do projeto		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7372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27921-1273-6DC3-E1D0-90D3C3ADE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981FF77-6F02-D3B7-19BC-777FC3D99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174" y="307708"/>
            <a:ext cx="9692640" cy="1351171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  <a:highlight>
                  <a:srgbClr val="FFFF00"/>
                </a:highlight>
              </a:rPr>
              <a:t>Criando Estrutura </a:t>
            </a:r>
            <a:br>
              <a:rPr lang="pt-BR" dirty="0"/>
            </a:br>
            <a:r>
              <a:rPr lang="pt-BR" sz="2200" dirty="0"/>
              <a:t>Gerenciador de soluções (Ctrl + Shift + E)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FE735D-88C6-D488-349D-9DCC2B0E3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48491" y="1658879"/>
            <a:ext cx="4867006" cy="3208020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Template</a:t>
            </a:r>
            <a:endParaRPr lang="pt-BR" dirty="0"/>
          </a:p>
        </p:txBody>
      </p:sp>
      <p:sp>
        <p:nvSpPr>
          <p:cNvPr id="19" name="Espaço Reservado para Conteúdo 18">
            <a:extLst>
              <a:ext uri="{FF2B5EF4-FFF2-40B4-BE49-F238E27FC236}">
                <a16:creationId xmlns:a16="http://schemas.microsoft.com/office/drawing/2014/main" id="{27759E4D-17E9-BB7F-8E8E-5FD70A182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38652" y="1742812"/>
            <a:ext cx="4800600" cy="890660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Atualizado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E0070602-5C54-FE29-B567-196DAA76138D}"/>
              </a:ext>
            </a:extLst>
          </p:cNvPr>
          <p:cNvGrpSpPr/>
          <p:nvPr/>
        </p:nvGrpSpPr>
        <p:grpSpPr>
          <a:xfrm>
            <a:off x="1309663" y="2340566"/>
            <a:ext cx="3267531" cy="2781300"/>
            <a:chOff x="1178268" y="2132508"/>
            <a:chExt cx="3267531" cy="278130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33B574CF-B4F8-B0A8-3999-25C1D5342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43962"/>
            <a:stretch>
              <a:fillRect/>
            </a:stretch>
          </p:blipFill>
          <p:spPr>
            <a:xfrm>
              <a:off x="1178268" y="2132508"/>
              <a:ext cx="3267531" cy="2781300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7B4BE810-C027-BB42-3EB1-84F1404E775E}"/>
                </a:ext>
              </a:extLst>
            </p:cNvPr>
            <p:cNvSpPr txBox="1"/>
            <p:nvPr/>
          </p:nvSpPr>
          <p:spPr>
            <a:xfrm>
              <a:off x="2334768" y="3290500"/>
              <a:ext cx="104546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FF0000"/>
                  </a:solidFill>
                </a:rPr>
                <a:t>projeto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2BA048E3-B8DD-878E-9FC9-7C2E103F192F}"/>
                </a:ext>
              </a:extLst>
            </p:cNvPr>
            <p:cNvSpPr txBox="1"/>
            <p:nvPr/>
          </p:nvSpPr>
          <p:spPr>
            <a:xfrm>
              <a:off x="3380232" y="3013501"/>
              <a:ext cx="8900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FF0000"/>
                  </a:solidFill>
                </a:rPr>
                <a:t>solução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0DE6FDCB-6CCC-1DED-7BB0-C69D0717F5F7}"/>
              </a:ext>
            </a:extLst>
          </p:cNvPr>
          <p:cNvGrpSpPr/>
          <p:nvPr/>
        </p:nvGrpSpPr>
        <p:grpSpPr>
          <a:xfrm>
            <a:off x="6638652" y="2371658"/>
            <a:ext cx="3315163" cy="3705742"/>
            <a:chOff x="5352818" y="2428875"/>
            <a:chExt cx="3315163" cy="3705742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A0483549-A23A-94A5-9641-9D39F1AAC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52818" y="2428875"/>
              <a:ext cx="3315163" cy="3705742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FD12C7CD-EC8C-47C7-5179-434ED0ADB09A}"/>
                </a:ext>
              </a:extLst>
            </p:cNvPr>
            <p:cNvSpPr txBox="1"/>
            <p:nvPr/>
          </p:nvSpPr>
          <p:spPr>
            <a:xfrm>
              <a:off x="6351632" y="3649934"/>
              <a:ext cx="8900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FF0000"/>
                  </a:solidFill>
                </a:rPr>
                <a:t>criado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377A1FBD-FDFE-06F3-7700-E0B69974B6A7}"/>
                </a:ext>
              </a:extLst>
            </p:cNvPr>
            <p:cNvSpPr txBox="1"/>
            <p:nvPr/>
          </p:nvSpPr>
          <p:spPr>
            <a:xfrm>
              <a:off x="6208203" y="4570495"/>
              <a:ext cx="8900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FF0000"/>
                  </a:solidFill>
                </a:rPr>
                <a:t>criado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7866DD90-1997-C499-32D7-4942DB7EAEB5}"/>
                </a:ext>
              </a:extLst>
            </p:cNvPr>
            <p:cNvSpPr txBox="1"/>
            <p:nvPr/>
          </p:nvSpPr>
          <p:spPr>
            <a:xfrm>
              <a:off x="6463275" y="4738364"/>
              <a:ext cx="8900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FF0000"/>
                  </a:solidFill>
                </a:rPr>
                <a:t>criado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6DD2978D-5045-5208-0A0F-511356F95231}"/>
                </a:ext>
              </a:extLst>
            </p:cNvPr>
            <p:cNvSpPr txBox="1"/>
            <p:nvPr/>
          </p:nvSpPr>
          <p:spPr>
            <a:xfrm>
              <a:off x="6561194" y="5268621"/>
              <a:ext cx="8900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FF0000"/>
                  </a:solidFill>
                </a:rPr>
                <a:t>criado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D2B93BF-2272-61B6-B217-B08EF482A843}"/>
                </a:ext>
              </a:extLst>
            </p:cNvPr>
            <p:cNvSpPr txBox="1"/>
            <p:nvPr/>
          </p:nvSpPr>
          <p:spPr>
            <a:xfrm>
              <a:off x="6580232" y="5075557"/>
              <a:ext cx="8900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FF0000"/>
                  </a:solidFill>
                </a:rPr>
                <a:t>criado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4471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C9F18-D001-7FB2-5BFB-B04B8B97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highlight>
                  <a:srgbClr val="FFFF00"/>
                </a:highlight>
              </a:rPr>
              <a:t>Pacotes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1248EE75-285C-D1FB-CD8E-1B7346D0004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60669" y="685800"/>
            <a:ext cx="4784212" cy="361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101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A070E-3D12-7688-6AD5-34186DAA9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37AA7A-B92C-CDAC-4D4A-828C63731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highlight>
                  <a:srgbClr val="FFFF00"/>
                </a:highlight>
              </a:rPr>
              <a:t>Instalando pacotes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8E1FE82A-41C4-FA30-BD67-B8D92D3210A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90347" y="294996"/>
            <a:ext cx="10560417" cy="321070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F6FA5F8-B1B7-41CD-1C6E-9C5E6FBE2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212" y="3684330"/>
            <a:ext cx="3897024" cy="135872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dirty="0" err="1">
                <a:solidFill>
                  <a:schemeClr val="tx1"/>
                </a:solidFill>
              </a:rPr>
              <a:t>Microsoft.aspnetcore.authentication.cookies</a:t>
            </a:r>
            <a:endParaRPr lang="pt-B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 err="1">
                <a:solidFill>
                  <a:schemeClr val="tx1"/>
                </a:solidFill>
              </a:rPr>
              <a:t>Microsoft.EntityFrameworkCore</a:t>
            </a:r>
            <a:endParaRPr lang="pt-B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 err="1">
                <a:solidFill>
                  <a:schemeClr val="tx1"/>
                </a:solidFill>
              </a:rPr>
              <a:t>Microsoft.EntityFrameworkCore.Design</a:t>
            </a:r>
            <a:endParaRPr lang="pt-B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 err="1">
                <a:solidFill>
                  <a:schemeClr val="tx1"/>
                </a:solidFill>
              </a:rPr>
              <a:t>Microsoft.EntityFrameworkCore.SQLServer</a:t>
            </a:r>
            <a:endParaRPr lang="pt-B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 err="1">
                <a:solidFill>
                  <a:schemeClr val="tx1"/>
                </a:solidFill>
              </a:rPr>
              <a:t>Microsoft.EntityFrameworkCore.Tools</a:t>
            </a:r>
            <a:endParaRPr lang="pt-B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pt-BR" dirty="0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DECEDC3D-A41E-E1D6-3B9B-C8B79898E154}"/>
              </a:ext>
            </a:extLst>
          </p:cNvPr>
          <p:cNvCxnSpPr>
            <a:cxnSpLocks/>
          </p:cNvCxnSpPr>
          <p:nvPr/>
        </p:nvCxnSpPr>
        <p:spPr>
          <a:xfrm flipH="1" flipV="1">
            <a:off x="2743200" y="1126258"/>
            <a:ext cx="896112" cy="2598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30DE950-3566-81D0-5F08-3A23115B1994}"/>
              </a:ext>
            </a:extLst>
          </p:cNvPr>
          <p:cNvCxnSpPr>
            <a:cxnSpLocks/>
          </p:cNvCxnSpPr>
          <p:nvPr/>
        </p:nvCxnSpPr>
        <p:spPr>
          <a:xfrm>
            <a:off x="6574536" y="1723792"/>
            <a:ext cx="1024128" cy="22604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DA626559-C22F-1E35-0E61-7CA45323A1ED}"/>
              </a:ext>
            </a:extLst>
          </p:cNvPr>
          <p:cNvCxnSpPr>
            <a:cxnSpLocks/>
          </p:cNvCxnSpPr>
          <p:nvPr/>
        </p:nvCxnSpPr>
        <p:spPr>
          <a:xfrm>
            <a:off x="6912864" y="2781703"/>
            <a:ext cx="1132709" cy="53542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C5CB7740-5CC6-7D5D-8B62-D9CF2C13C94D}"/>
              </a:ext>
            </a:extLst>
          </p:cNvPr>
          <p:cNvCxnSpPr>
            <a:cxnSpLocks/>
          </p:cNvCxnSpPr>
          <p:nvPr/>
        </p:nvCxnSpPr>
        <p:spPr>
          <a:xfrm flipH="1" flipV="1">
            <a:off x="2895600" y="1614246"/>
            <a:ext cx="1036320" cy="29527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E86B2DA0-FA11-14B6-FCB7-1F1B369D67C0}"/>
              </a:ext>
            </a:extLst>
          </p:cNvPr>
          <p:cNvCxnSpPr>
            <a:cxnSpLocks/>
          </p:cNvCxnSpPr>
          <p:nvPr/>
        </p:nvCxnSpPr>
        <p:spPr>
          <a:xfrm flipH="1" flipV="1">
            <a:off x="1011936" y="838015"/>
            <a:ext cx="896112" cy="2598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317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8392F-A353-E0AE-1C8C-50378D020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6AE568-CE81-78E2-B5B8-834559A4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highlight>
                  <a:srgbClr val="FFFF00"/>
                </a:highlight>
              </a:rPr>
              <a:t>Instalando pacotes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437B216-4054-3037-FFE7-8690253AE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6415" y="2771810"/>
            <a:ext cx="5114021" cy="19479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200" dirty="0" err="1">
                <a:solidFill>
                  <a:schemeClr val="tx1"/>
                </a:solidFill>
              </a:rPr>
              <a:t>Microsoft.aspnetcore.authentication.cookies</a:t>
            </a:r>
            <a:endParaRPr lang="pt-BR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sz="1200" dirty="0" err="1">
                <a:solidFill>
                  <a:schemeClr val="tx1"/>
                </a:solidFill>
              </a:rPr>
              <a:t>Microsoft.EntityFrameworkCore</a:t>
            </a:r>
            <a:endParaRPr lang="pt-BR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sz="1200" dirty="0" err="1">
                <a:solidFill>
                  <a:schemeClr val="tx1"/>
                </a:solidFill>
              </a:rPr>
              <a:t>Microsoft.EntityFrameworkCore.Design</a:t>
            </a:r>
            <a:endParaRPr lang="pt-BR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sz="1200" dirty="0" err="1">
                <a:solidFill>
                  <a:schemeClr val="tx1"/>
                </a:solidFill>
              </a:rPr>
              <a:t>Microsoft.EntityFrameworkCore.SQLServer</a:t>
            </a:r>
            <a:endParaRPr lang="pt-BR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sz="1200" dirty="0" err="1">
                <a:solidFill>
                  <a:schemeClr val="tx1"/>
                </a:solidFill>
              </a:rPr>
              <a:t>Microsoft.EntityFrameworkCore.Tools</a:t>
            </a:r>
            <a:endParaRPr lang="pt-BR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5C401C82-56C7-55D3-AFFB-B295BB944F9A}"/>
              </a:ext>
            </a:extLst>
          </p:cNvPr>
          <p:cNvSpPr txBox="1">
            <a:spLocks/>
          </p:cNvSpPr>
          <p:nvPr/>
        </p:nvSpPr>
        <p:spPr>
          <a:xfrm>
            <a:off x="3226415" y="1249969"/>
            <a:ext cx="4514088" cy="13700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Fica na solução, então se eu levar para outra maquina os pacotes irão juntos</a:t>
            </a:r>
            <a:endParaRPr lang="pt-BR" sz="1050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59F77C7E-87E7-10C5-2CA3-21E9A2433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64" y="1249969"/>
            <a:ext cx="2408351" cy="304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27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82AEF-7E7F-1218-3939-CB6963E4C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40BB2B-D546-888B-31A7-23CB3431D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Modelos/ </a:t>
            </a:r>
            <a:r>
              <a:rPr lang="pt-BR" dirty="0">
                <a:solidFill>
                  <a:schemeClr val="bg1"/>
                </a:solidFill>
                <a:highlight>
                  <a:srgbClr val="FFFF00"/>
                </a:highlight>
              </a:rPr>
              <a:t>Models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8AB1EF6-A221-008E-7E1E-235B800CE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>
                <a:solidFill>
                  <a:schemeClr val="tx1"/>
                </a:solidFill>
              </a:rPr>
              <a:t>Data </a:t>
            </a:r>
            <a:r>
              <a:rPr lang="pt-BR" dirty="0" err="1">
                <a:solidFill>
                  <a:schemeClr val="tx1"/>
                </a:solidFill>
              </a:rPr>
              <a:t>notation</a:t>
            </a:r>
            <a:r>
              <a:rPr lang="pt-BR" dirty="0">
                <a:solidFill>
                  <a:schemeClr val="tx1"/>
                </a:solidFill>
              </a:rPr>
              <a:t> são as notações em cima das propriedades</a:t>
            </a:r>
          </a:p>
          <a:p>
            <a:r>
              <a:rPr lang="pt-BR" dirty="0">
                <a:solidFill>
                  <a:schemeClr val="tx1"/>
                </a:solidFill>
              </a:rPr>
              <a:t>Criação das tabelas do banco de dados</a:t>
            </a:r>
          </a:p>
          <a:p>
            <a:endParaRPr lang="pt-BR" dirty="0">
              <a:solidFill>
                <a:schemeClr val="tx1"/>
              </a:solidFill>
            </a:endParaRPr>
          </a:p>
          <a:p>
            <a:r>
              <a:rPr lang="pt-BR" dirty="0">
                <a:solidFill>
                  <a:schemeClr val="tx1"/>
                </a:solidFill>
              </a:rPr>
              <a:t>{</a:t>
            </a:r>
            <a:r>
              <a:rPr lang="pt-BR" dirty="0" err="1">
                <a:solidFill>
                  <a:schemeClr val="tx1"/>
                </a:solidFill>
              </a:rPr>
              <a:t>get</a:t>
            </a:r>
            <a:r>
              <a:rPr lang="pt-BR" dirty="0">
                <a:solidFill>
                  <a:schemeClr val="tx1"/>
                </a:solidFill>
              </a:rPr>
              <a:t>; set;} recebe e passa a informação</a:t>
            </a:r>
          </a:p>
          <a:p>
            <a:endParaRPr lang="pt-BR" dirty="0">
              <a:solidFill>
                <a:schemeClr val="tx1"/>
              </a:solidFill>
            </a:endParaRPr>
          </a:p>
          <a:p>
            <a:r>
              <a:rPr lang="pt-BR" dirty="0">
                <a:solidFill>
                  <a:schemeClr val="tx1"/>
                </a:solidFill>
              </a:rPr>
              <a:t>[</a:t>
            </a:r>
            <a:r>
              <a:rPr lang="pt-BR" dirty="0" err="1">
                <a:solidFill>
                  <a:schemeClr val="tx1"/>
                </a:solidFill>
              </a:rPr>
              <a:t>key</a:t>
            </a:r>
            <a:r>
              <a:rPr lang="pt-BR" dirty="0">
                <a:solidFill>
                  <a:schemeClr val="tx1"/>
                </a:solidFill>
              </a:rPr>
              <a:t>] PK</a:t>
            </a:r>
          </a:p>
          <a:p>
            <a:r>
              <a:rPr lang="pt-BR" dirty="0">
                <a:solidFill>
                  <a:schemeClr val="tx1"/>
                </a:solidFill>
              </a:rPr>
              <a:t>[</a:t>
            </a:r>
            <a:r>
              <a:rPr lang="pt-BR" dirty="0" err="1">
                <a:solidFill>
                  <a:schemeClr val="tx1"/>
                </a:solidFill>
              </a:rPr>
              <a:t>required</a:t>
            </a:r>
            <a:r>
              <a:rPr lang="pt-BR" dirty="0">
                <a:solidFill>
                  <a:schemeClr val="tx1"/>
                </a:solidFill>
              </a:rPr>
              <a:t>] </a:t>
            </a:r>
            <a:r>
              <a:rPr lang="pt-BR" dirty="0" err="1">
                <a:solidFill>
                  <a:schemeClr val="tx1"/>
                </a:solidFill>
              </a:rPr>
              <a:t>Not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 err="1">
                <a:solidFill>
                  <a:schemeClr val="tx1"/>
                </a:solidFill>
              </a:rPr>
              <a:t>null</a:t>
            </a:r>
            <a:endParaRPr lang="pt-BR" dirty="0">
              <a:solidFill>
                <a:schemeClr val="tx1"/>
              </a:solidFill>
            </a:endParaRPr>
          </a:p>
          <a:p>
            <a:r>
              <a:rPr lang="pt-BR" dirty="0">
                <a:solidFill>
                  <a:schemeClr val="tx1"/>
                </a:solidFill>
              </a:rPr>
              <a:t>[display] alias</a:t>
            </a:r>
          </a:p>
          <a:p>
            <a:r>
              <a:rPr lang="pt-BR" dirty="0">
                <a:solidFill>
                  <a:schemeClr val="tx1"/>
                </a:solidFill>
              </a:rPr>
              <a:t>[</a:t>
            </a:r>
            <a:r>
              <a:rPr lang="pt-BR" dirty="0" err="1">
                <a:solidFill>
                  <a:schemeClr val="tx1"/>
                </a:solidFill>
              </a:rPr>
              <a:t>stringLenght</a:t>
            </a:r>
            <a:r>
              <a:rPr lang="pt-BR" dirty="0">
                <a:solidFill>
                  <a:schemeClr val="tx1"/>
                </a:solidFill>
              </a:rPr>
              <a:t>] </a:t>
            </a:r>
            <a:r>
              <a:rPr lang="pt-BR" dirty="0" err="1">
                <a:solidFill>
                  <a:schemeClr val="tx1"/>
                </a:solidFill>
              </a:rPr>
              <a:t>varchar</a:t>
            </a:r>
            <a:r>
              <a:rPr lang="pt-BR" dirty="0">
                <a:solidFill>
                  <a:schemeClr val="tx1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551653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6E7DA-E133-92AA-C990-65A9A1CBD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Modelos/ </a:t>
            </a:r>
            <a:r>
              <a:rPr lang="pt-BR" dirty="0">
                <a:solidFill>
                  <a:schemeClr val="bg1"/>
                </a:solidFill>
                <a:highlight>
                  <a:srgbClr val="FFFF00"/>
                </a:highlight>
              </a:rPr>
              <a:t>Models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143608B-7C1B-4E60-924A-D48575572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12" y="1948038"/>
            <a:ext cx="3270304" cy="253929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18E3352-7F43-AF78-CF57-038D8074540D}"/>
              </a:ext>
            </a:extLst>
          </p:cNvPr>
          <p:cNvSpPr txBox="1"/>
          <p:nvPr/>
        </p:nvSpPr>
        <p:spPr>
          <a:xfrm>
            <a:off x="4192939" y="2587177"/>
            <a:ext cx="411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Modelos criados</a:t>
            </a:r>
          </a:p>
          <a:p>
            <a:endParaRPr lang="pt-BR" sz="1600" dirty="0"/>
          </a:p>
          <a:p>
            <a:r>
              <a:rPr lang="pt-BR" sz="1600" dirty="0"/>
              <a:t>Onde vão ficar cada tabela separada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B2EB858-2888-8108-E884-79DAA0451A7D}"/>
              </a:ext>
            </a:extLst>
          </p:cNvPr>
          <p:cNvCxnSpPr/>
          <p:nvPr/>
        </p:nvCxnSpPr>
        <p:spPr>
          <a:xfrm>
            <a:off x="1914329" y="2864002"/>
            <a:ext cx="19385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567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67D3E-E195-0141-F657-93F1D753F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BCCD49-235C-0165-5DE1-18400A984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91440"/>
            <a:ext cx="9692640" cy="1641313"/>
          </a:xfrm>
        </p:spPr>
        <p:txBody>
          <a:bodyPr/>
          <a:lstStyle/>
          <a:p>
            <a:r>
              <a:rPr lang="pt-BR" dirty="0"/>
              <a:t>Modelos/ </a:t>
            </a:r>
            <a:r>
              <a:rPr lang="pt-BR" dirty="0">
                <a:solidFill>
                  <a:schemeClr val="bg1"/>
                </a:solidFill>
                <a:highlight>
                  <a:srgbClr val="FFFF00"/>
                </a:highlight>
              </a:rPr>
              <a:t>Models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4314D1B-6FA1-B512-E0F7-09EF089E3C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8154"/>
          <a:stretch>
            <a:fillRect/>
          </a:stretch>
        </p:blipFill>
        <p:spPr>
          <a:xfrm>
            <a:off x="504099" y="1764616"/>
            <a:ext cx="4934639" cy="324629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B8224ACC-4AA0-D226-F9AD-9F204244FC94}"/>
              </a:ext>
            </a:extLst>
          </p:cNvPr>
          <p:cNvSpPr txBox="1"/>
          <p:nvPr/>
        </p:nvSpPr>
        <p:spPr>
          <a:xfrm>
            <a:off x="5438733" y="2560870"/>
            <a:ext cx="5844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[</a:t>
            </a:r>
            <a:r>
              <a:rPr lang="pt-BR" sz="1400" dirty="0" err="1">
                <a:solidFill>
                  <a:srgbClr val="FF0000"/>
                </a:solidFill>
              </a:rPr>
              <a:t>table</a:t>
            </a:r>
            <a:r>
              <a:rPr lang="pt-BR" sz="1400" dirty="0">
                <a:solidFill>
                  <a:srgbClr val="FF0000"/>
                </a:solidFill>
              </a:rPr>
              <a:t>] recebe o nome da tabela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D5144C7-AD9B-DC74-9719-ACE4E5B36232}"/>
              </a:ext>
            </a:extLst>
          </p:cNvPr>
          <p:cNvSpPr txBox="1"/>
          <p:nvPr/>
        </p:nvSpPr>
        <p:spPr>
          <a:xfrm>
            <a:off x="5438736" y="2936289"/>
            <a:ext cx="5844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Tabela publica para acesso de outro canto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AC32588-DA67-21F8-1392-A77905CC3DF7}"/>
              </a:ext>
            </a:extLst>
          </p:cNvPr>
          <p:cNvSpPr txBox="1"/>
          <p:nvPr/>
        </p:nvSpPr>
        <p:spPr>
          <a:xfrm>
            <a:off x="5438737" y="3275519"/>
            <a:ext cx="5844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[</a:t>
            </a:r>
            <a:r>
              <a:rPr lang="pt-BR" sz="1400" dirty="0" err="1">
                <a:solidFill>
                  <a:srgbClr val="FF0000"/>
                </a:solidFill>
              </a:rPr>
              <a:t>key</a:t>
            </a:r>
            <a:r>
              <a:rPr lang="pt-BR" sz="1400" dirty="0">
                <a:solidFill>
                  <a:srgbClr val="FF0000"/>
                </a:solidFill>
              </a:rPr>
              <a:t>] indica a PK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6839552-92D0-181C-374F-B6C4E9450FA5}"/>
              </a:ext>
            </a:extLst>
          </p:cNvPr>
          <p:cNvSpPr txBox="1"/>
          <p:nvPr/>
        </p:nvSpPr>
        <p:spPr>
          <a:xfrm>
            <a:off x="5438738" y="3478071"/>
            <a:ext cx="5844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Mesmo com [</a:t>
            </a:r>
            <a:r>
              <a:rPr lang="pt-BR" sz="1400" dirty="0" err="1">
                <a:solidFill>
                  <a:srgbClr val="FF0000"/>
                </a:solidFill>
              </a:rPr>
              <a:t>key</a:t>
            </a:r>
            <a:r>
              <a:rPr lang="pt-BR" sz="1400" dirty="0">
                <a:solidFill>
                  <a:srgbClr val="FF0000"/>
                </a:solidFill>
              </a:rPr>
              <a:t>] precisa ter “Id” antes do nome (para garantir </a:t>
            </a:r>
            <a:r>
              <a:rPr lang="pt-BR" sz="1400" dirty="0" err="1">
                <a:solidFill>
                  <a:srgbClr val="FF0000"/>
                </a:solidFill>
              </a:rPr>
              <a:t>pk</a:t>
            </a:r>
            <a:r>
              <a:rPr lang="pt-BR" sz="1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6B7F301-E602-F827-A21D-7BE450336C7B}"/>
              </a:ext>
            </a:extLst>
          </p:cNvPr>
          <p:cNvSpPr txBox="1"/>
          <p:nvPr/>
        </p:nvSpPr>
        <p:spPr>
          <a:xfrm>
            <a:off x="5438738" y="3876596"/>
            <a:ext cx="5844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[</a:t>
            </a:r>
            <a:r>
              <a:rPr lang="pt-BR" sz="1400" dirty="0" err="1">
                <a:solidFill>
                  <a:srgbClr val="FF0000"/>
                </a:solidFill>
              </a:rPr>
              <a:t>required</a:t>
            </a:r>
            <a:r>
              <a:rPr lang="pt-BR" sz="1400" dirty="0">
                <a:solidFill>
                  <a:srgbClr val="FF0000"/>
                </a:solidFill>
              </a:rPr>
              <a:t>] </a:t>
            </a:r>
            <a:r>
              <a:rPr lang="pt-BR" sz="1400" dirty="0" err="1">
                <a:solidFill>
                  <a:srgbClr val="FF0000"/>
                </a:solidFill>
              </a:rPr>
              <a:t>Not</a:t>
            </a:r>
            <a:r>
              <a:rPr lang="pt-BR" sz="1400" dirty="0">
                <a:solidFill>
                  <a:srgbClr val="FF0000"/>
                </a:solidFill>
              </a:rPr>
              <a:t>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 com mensagem de erro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C663733-9A62-6AC9-1034-1C521BED332A}"/>
              </a:ext>
            </a:extLst>
          </p:cNvPr>
          <p:cNvSpPr txBox="1"/>
          <p:nvPr/>
        </p:nvSpPr>
        <p:spPr>
          <a:xfrm>
            <a:off x="5438738" y="4103636"/>
            <a:ext cx="5844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[display] nome da coluna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4B4EB8D-AFCB-7375-93B6-8E7A446A2D96}"/>
              </a:ext>
            </a:extLst>
          </p:cNvPr>
          <p:cNvSpPr txBox="1"/>
          <p:nvPr/>
        </p:nvSpPr>
        <p:spPr>
          <a:xfrm>
            <a:off x="5438738" y="4330897"/>
            <a:ext cx="5844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[</a:t>
            </a:r>
            <a:r>
              <a:rPr lang="pt-BR" sz="1400" dirty="0" err="1">
                <a:solidFill>
                  <a:srgbClr val="FF0000"/>
                </a:solidFill>
              </a:rPr>
              <a:t>StringLength</a:t>
            </a:r>
            <a:r>
              <a:rPr lang="pt-BR" sz="1400" dirty="0">
                <a:solidFill>
                  <a:srgbClr val="FF0000"/>
                </a:solidFill>
              </a:rPr>
              <a:t>] </a:t>
            </a:r>
            <a:r>
              <a:rPr lang="pt-BR" sz="1400" dirty="0" err="1">
                <a:solidFill>
                  <a:srgbClr val="FF0000"/>
                </a:solidFill>
              </a:rPr>
              <a:t>varchar</a:t>
            </a:r>
            <a:r>
              <a:rPr lang="pt-BR" sz="1400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D416AAB-CAE7-4895-86D2-9A7E488602B2}"/>
              </a:ext>
            </a:extLst>
          </p:cNvPr>
          <p:cNvSpPr txBox="1"/>
          <p:nvPr/>
        </p:nvSpPr>
        <p:spPr>
          <a:xfrm>
            <a:off x="5438738" y="4605688"/>
            <a:ext cx="5844958" cy="523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Em cima eram as propriedades, aqui é a coluna de fato, onde recebemos e passamos os dados</a:t>
            </a:r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4B6241E1-0816-18F8-08FE-FE9BFD646038}"/>
              </a:ext>
            </a:extLst>
          </p:cNvPr>
          <p:cNvCxnSpPr/>
          <p:nvPr/>
        </p:nvCxnSpPr>
        <p:spPr>
          <a:xfrm flipH="1">
            <a:off x="2112264" y="2651442"/>
            <a:ext cx="3326472" cy="1191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AFCA77D6-67C3-FC96-3C42-13253631FEAC}"/>
              </a:ext>
            </a:extLst>
          </p:cNvPr>
          <p:cNvCxnSpPr/>
          <p:nvPr/>
        </p:nvCxnSpPr>
        <p:spPr>
          <a:xfrm flipH="1">
            <a:off x="2340864" y="3090672"/>
            <a:ext cx="309786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E3B6F58B-54B4-4043-4F34-2B40B44806B4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1417320" y="3410670"/>
            <a:ext cx="4021417" cy="187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30B98A2A-9C5C-3A73-93A3-70F4D7FE3E60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3813048" y="3631960"/>
            <a:ext cx="1625690" cy="896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2A47B685-8500-D7F1-1BE9-758AB82C6EF8}"/>
              </a:ext>
            </a:extLst>
          </p:cNvPr>
          <p:cNvSpPr/>
          <p:nvPr/>
        </p:nvSpPr>
        <p:spPr>
          <a:xfrm>
            <a:off x="1810512" y="3601584"/>
            <a:ext cx="288000" cy="28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1C60D2B8-52A4-119A-A94B-AD203A4D9414}"/>
              </a:ext>
            </a:extLst>
          </p:cNvPr>
          <p:cNvCxnSpPr>
            <a:stCxn id="14" idx="1"/>
          </p:cNvCxnSpPr>
          <p:nvPr/>
        </p:nvCxnSpPr>
        <p:spPr>
          <a:xfrm flipH="1">
            <a:off x="4873752" y="4030485"/>
            <a:ext cx="564986" cy="73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ACDD4AD4-839E-9DC9-B75F-39394B39D06A}"/>
              </a:ext>
            </a:extLst>
          </p:cNvPr>
          <p:cNvCxnSpPr>
            <a:stCxn id="15" idx="1"/>
          </p:cNvCxnSpPr>
          <p:nvPr/>
        </p:nvCxnSpPr>
        <p:spPr>
          <a:xfrm flipH="1">
            <a:off x="3008376" y="4257525"/>
            <a:ext cx="2430362" cy="35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1B85685E-CBA5-FF2D-10EF-35302287F47F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2569464" y="4437249"/>
            <a:ext cx="2869274" cy="475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FE1CBF8E-B612-6C24-3118-125AD66A2EAE}"/>
              </a:ext>
            </a:extLst>
          </p:cNvPr>
          <p:cNvCxnSpPr>
            <a:stCxn id="17" idx="1"/>
          </p:cNvCxnSpPr>
          <p:nvPr/>
        </p:nvCxnSpPr>
        <p:spPr>
          <a:xfrm flipH="1" flipV="1">
            <a:off x="3813048" y="4791284"/>
            <a:ext cx="1625690" cy="760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tângulo 38">
            <a:extLst>
              <a:ext uri="{FF2B5EF4-FFF2-40B4-BE49-F238E27FC236}">
                <a16:creationId xmlns:a16="http://schemas.microsoft.com/office/drawing/2014/main" id="{797EC7D3-623F-E8F9-0A4C-F43D488E7FF2}"/>
              </a:ext>
            </a:extLst>
          </p:cNvPr>
          <p:cNvSpPr/>
          <p:nvPr/>
        </p:nvSpPr>
        <p:spPr>
          <a:xfrm>
            <a:off x="896112" y="4679736"/>
            <a:ext cx="2743200" cy="2089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A47AB873-6B24-6F81-A69F-2B42FC5D0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95" y="4931920"/>
            <a:ext cx="4934639" cy="187668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3" name="CaixaDeTexto 42">
            <a:extLst>
              <a:ext uri="{FF2B5EF4-FFF2-40B4-BE49-F238E27FC236}">
                <a16:creationId xmlns:a16="http://schemas.microsoft.com/office/drawing/2014/main" id="{CA5E1A15-88DB-2A62-D884-AB5C72E2B514}"/>
              </a:ext>
            </a:extLst>
          </p:cNvPr>
          <p:cNvSpPr txBox="1"/>
          <p:nvPr/>
        </p:nvSpPr>
        <p:spPr>
          <a:xfrm>
            <a:off x="5563706" y="5707147"/>
            <a:ext cx="5844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FK/ relações</a:t>
            </a:r>
          </a:p>
        </p:txBody>
      </p:sp>
    </p:spTree>
    <p:extLst>
      <p:ext uri="{BB962C8B-B14F-4D97-AF65-F5344CB8AC3E}">
        <p14:creationId xmlns:p14="http://schemas.microsoft.com/office/powerpoint/2010/main" val="3980851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92BF1729-AA9F-78C6-6704-84559D71C9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872" y="1837975"/>
            <a:ext cx="8507012" cy="250542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7D563B8-F7C9-BEF0-DEBC-6014CAF7C390}"/>
              </a:ext>
            </a:extLst>
          </p:cNvPr>
          <p:cNvSpPr txBox="1"/>
          <p:nvPr/>
        </p:nvSpPr>
        <p:spPr>
          <a:xfrm>
            <a:off x="1261872" y="4343400"/>
            <a:ext cx="5538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Herdamos do </a:t>
            </a:r>
            <a:r>
              <a:rPr lang="pt-BR" dirty="0" err="1">
                <a:solidFill>
                  <a:srgbClr val="FF0000"/>
                </a:solidFill>
              </a:rPr>
              <a:t>DbContext</a:t>
            </a:r>
            <a:r>
              <a:rPr lang="pt-BR" dirty="0">
                <a:solidFill>
                  <a:srgbClr val="FF0000"/>
                </a:solidFill>
              </a:rPr>
              <a:t> (que vem direto do </a:t>
            </a:r>
            <a:r>
              <a:rPr lang="pt-BR" dirty="0" err="1">
                <a:solidFill>
                  <a:srgbClr val="FF0000"/>
                </a:solidFill>
              </a:rPr>
              <a:t>EntitFramework</a:t>
            </a:r>
            <a:r>
              <a:rPr lang="pt-BR" dirty="0">
                <a:solidFill>
                  <a:srgbClr val="FF0000"/>
                </a:solidFill>
              </a:rPr>
              <a:t>)</a:t>
            </a:r>
          </a:p>
          <a:p>
            <a:endParaRPr lang="pt-BR" dirty="0">
              <a:solidFill>
                <a:srgbClr val="FF0000"/>
              </a:solidFill>
            </a:endParaRPr>
          </a:p>
          <a:p>
            <a:r>
              <a:rPr lang="pt-BR" dirty="0">
                <a:solidFill>
                  <a:srgbClr val="FF0000"/>
                </a:solidFill>
              </a:rPr>
              <a:t>Transforma objetos em tabelas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69029BB-8D6C-581D-4C04-0F455AF7CB8B}"/>
              </a:ext>
            </a:extLst>
          </p:cNvPr>
          <p:cNvSpPr txBox="1"/>
          <p:nvPr/>
        </p:nvSpPr>
        <p:spPr>
          <a:xfrm>
            <a:off x="3182112" y="3310128"/>
            <a:ext cx="6501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rgbClr val="FF0000"/>
                </a:solidFill>
              </a:rPr>
              <a:t>Ctor</a:t>
            </a:r>
            <a:r>
              <a:rPr lang="pt-BR" dirty="0">
                <a:solidFill>
                  <a:srgbClr val="FF0000"/>
                </a:solidFill>
              </a:rPr>
              <a:t> fica vazio mesmo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065272C-2F26-0977-2508-A852CF52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376" y="89713"/>
            <a:ext cx="8534400" cy="1507067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  <a:highlight>
                  <a:srgbClr val="FFFF00"/>
                </a:highlight>
              </a:rPr>
              <a:t>Data\</a:t>
            </a:r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DbContext</a:t>
            </a:r>
            <a:r>
              <a:rPr lang="pt-BR" dirty="0">
                <a:solidFill>
                  <a:schemeClr val="bg1"/>
                </a:solidFill>
                <a:highlight>
                  <a:srgbClr val="FFFF00"/>
                </a:highlight>
              </a:rPr>
              <a:t> (</a:t>
            </a:r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DbSets</a:t>
            </a:r>
            <a:r>
              <a:rPr lang="pt-BR" dirty="0">
                <a:solidFill>
                  <a:schemeClr val="bg1"/>
                </a:solidFill>
                <a:highlight>
                  <a:srgbClr val="FFFF00"/>
                </a:highligh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19756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DD5FD-1310-B154-3C94-2190D030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376" y="89713"/>
            <a:ext cx="8534400" cy="1507067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  <a:highlight>
                  <a:srgbClr val="FFFF00"/>
                </a:highlight>
              </a:rPr>
              <a:t>Data\</a:t>
            </a:r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DbContext</a:t>
            </a:r>
            <a:r>
              <a:rPr lang="pt-BR" dirty="0">
                <a:solidFill>
                  <a:schemeClr val="bg1"/>
                </a:solidFill>
                <a:highlight>
                  <a:srgbClr val="FFFF00"/>
                </a:highlight>
              </a:rPr>
              <a:t> (</a:t>
            </a:r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DbSets</a:t>
            </a:r>
            <a:r>
              <a:rPr lang="pt-BR" dirty="0">
                <a:solidFill>
                  <a:schemeClr val="bg1"/>
                </a:solidFill>
                <a:highlight>
                  <a:srgbClr val="FFFF00"/>
                </a:highlight>
              </a:rPr>
              <a:t>)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7A75946-7ACB-3EB9-AF2D-26F529281A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872" y="1880560"/>
            <a:ext cx="1971950" cy="35247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97AC2D7-A9B1-A213-72B8-1A3C1C62A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871098"/>
            <a:ext cx="7328725" cy="498690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59804B5-680E-B3E4-7EF8-3BF0371840D6}"/>
              </a:ext>
            </a:extLst>
          </p:cNvPr>
          <p:cNvSpPr txBox="1"/>
          <p:nvPr/>
        </p:nvSpPr>
        <p:spPr>
          <a:xfrm>
            <a:off x="1039177" y="3764384"/>
            <a:ext cx="1655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São propriedades que vão virar tabelas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D4224AF-2283-8948-8241-4EA77EF9EE9B}"/>
              </a:ext>
            </a:extLst>
          </p:cNvPr>
          <p:cNvSpPr txBox="1"/>
          <p:nvPr/>
        </p:nvSpPr>
        <p:spPr>
          <a:xfrm>
            <a:off x="9966960" y="5980176"/>
            <a:ext cx="2225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FF0000"/>
                </a:solidFill>
              </a:rPr>
              <a:t>Garantir que os usuários iniciais serão criados com o ativo = </a:t>
            </a:r>
            <a:r>
              <a:rPr lang="pt-BR" sz="1200" dirty="0" err="1">
                <a:solidFill>
                  <a:srgbClr val="FF0000"/>
                </a:solidFill>
              </a:rPr>
              <a:t>true</a:t>
            </a:r>
            <a:endParaRPr lang="pt-BR" sz="1200" dirty="0">
              <a:solidFill>
                <a:srgbClr val="FF0000"/>
              </a:solidFill>
            </a:endParaRP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5205F2B6-A13D-91CA-EBC3-8CCE9B294213}"/>
              </a:ext>
            </a:extLst>
          </p:cNvPr>
          <p:cNvCxnSpPr>
            <a:stCxn id="8" idx="3"/>
          </p:cNvCxnSpPr>
          <p:nvPr/>
        </p:nvCxnSpPr>
        <p:spPr>
          <a:xfrm>
            <a:off x="2694241" y="4364549"/>
            <a:ext cx="1713167" cy="7943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1ACC6881-474B-E4A7-D405-51CDE8E19EE2}"/>
              </a:ext>
            </a:extLst>
          </p:cNvPr>
          <p:cNvCxnSpPr/>
          <p:nvPr/>
        </p:nvCxnSpPr>
        <p:spPr>
          <a:xfrm>
            <a:off x="2487168" y="3429000"/>
            <a:ext cx="2020824" cy="1828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60323DE-5137-56D4-829E-76BA8A7F3A42}"/>
              </a:ext>
            </a:extLst>
          </p:cNvPr>
          <p:cNvSpPr txBox="1"/>
          <p:nvPr/>
        </p:nvSpPr>
        <p:spPr>
          <a:xfrm>
            <a:off x="-12384" y="2829528"/>
            <a:ext cx="3377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Serve para implementar as configurações do </a:t>
            </a:r>
            <a:r>
              <a:rPr lang="pt-BR" sz="1400" dirty="0" err="1">
                <a:solidFill>
                  <a:srgbClr val="FF0000"/>
                </a:solidFill>
              </a:rPr>
              <a:t>Ms.EFCore</a:t>
            </a:r>
            <a:r>
              <a:rPr lang="pt-BR" sz="1400" dirty="0">
                <a:solidFill>
                  <a:srgbClr val="FF0000"/>
                </a:solidFill>
              </a:rPr>
              <a:t> no DB </a:t>
            </a:r>
          </a:p>
        </p:txBody>
      </p:sp>
    </p:spTree>
    <p:extLst>
      <p:ext uri="{BB962C8B-B14F-4D97-AF65-F5344CB8AC3E}">
        <p14:creationId xmlns:p14="http://schemas.microsoft.com/office/powerpoint/2010/main" val="4058222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A76F4-CDEE-986F-F600-6E55DEE44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176" y="5202703"/>
            <a:ext cx="8534400" cy="1507067"/>
          </a:xfrm>
        </p:spPr>
        <p:txBody>
          <a:bodyPr/>
          <a:lstStyle/>
          <a:p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appsettings.json</a:t>
            </a:r>
            <a:endParaRPr lang="pt-BR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F2E92276-F1C8-EDCD-31C8-D28016B9D05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62063" y="3380781"/>
            <a:ext cx="4479925" cy="1918888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678E3BF-8D4F-0DB5-E0E7-A54EB39F1FE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Server=(</a:t>
            </a:r>
            <a:r>
              <a:rPr lang="pt-BR" dirty="0" err="1">
                <a:solidFill>
                  <a:schemeClr val="tx1"/>
                </a:solidFill>
              </a:rPr>
              <a:t>localdb</a:t>
            </a:r>
            <a:r>
              <a:rPr lang="pt-BR" dirty="0">
                <a:solidFill>
                  <a:schemeClr val="tx1"/>
                </a:solidFill>
              </a:rPr>
              <a:t>\\</a:t>
            </a:r>
            <a:r>
              <a:rPr lang="pt-BR" dirty="0" err="1">
                <a:solidFill>
                  <a:schemeClr val="tx1"/>
                </a:solidFill>
              </a:rPr>
              <a:t>mssqllocaldb</a:t>
            </a:r>
            <a:r>
              <a:rPr lang="pt-BR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pt-BR" dirty="0">
                <a:solidFill>
                  <a:schemeClr val="tx1"/>
                </a:solidFill>
              </a:rPr>
              <a:t>Caminho</a:t>
            </a:r>
          </a:p>
          <a:p>
            <a:r>
              <a:rPr lang="pt-BR" dirty="0" err="1">
                <a:solidFill>
                  <a:schemeClr val="tx1"/>
                </a:solidFill>
              </a:rPr>
              <a:t>Database</a:t>
            </a:r>
            <a:r>
              <a:rPr lang="pt-BR" dirty="0">
                <a:solidFill>
                  <a:schemeClr val="tx1"/>
                </a:solidFill>
              </a:rPr>
              <a:t>=</a:t>
            </a:r>
            <a:r>
              <a:rPr lang="pt-BR" dirty="0" err="1">
                <a:solidFill>
                  <a:schemeClr val="tx1"/>
                </a:solidFill>
              </a:rPr>
              <a:t>zeroflowDB</a:t>
            </a:r>
            <a:endParaRPr lang="pt-BR" dirty="0">
              <a:solidFill>
                <a:schemeClr val="tx1"/>
              </a:solidFill>
            </a:endParaRPr>
          </a:p>
          <a:p>
            <a:pPr lvl="1"/>
            <a:r>
              <a:rPr lang="pt-BR" dirty="0">
                <a:solidFill>
                  <a:schemeClr val="tx1"/>
                </a:solidFill>
              </a:rPr>
              <a:t>Nome do banco</a:t>
            </a:r>
          </a:p>
          <a:p>
            <a:r>
              <a:rPr lang="pt-BR" dirty="0" err="1">
                <a:solidFill>
                  <a:schemeClr val="tx1"/>
                </a:solidFill>
              </a:rPr>
              <a:t>Trusted_connection</a:t>
            </a:r>
            <a:r>
              <a:rPr lang="pt-BR" dirty="0">
                <a:solidFill>
                  <a:schemeClr val="tx1"/>
                </a:solidFill>
              </a:rPr>
              <a:t>=</a:t>
            </a:r>
            <a:r>
              <a:rPr lang="pt-BR" dirty="0" err="1">
                <a:solidFill>
                  <a:schemeClr val="tx1"/>
                </a:solidFill>
              </a:rPr>
              <a:t>true</a:t>
            </a:r>
            <a:endParaRPr lang="pt-BR" dirty="0">
              <a:solidFill>
                <a:schemeClr val="tx1"/>
              </a:solidFill>
            </a:endParaRPr>
          </a:p>
          <a:p>
            <a:pPr lvl="1"/>
            <a:r>
              <a:rPr lang="pt-BR" dirty="0">
                <a:solidFill>
                  <a:schemeClr val="tx1"/>
                </a:solidFill>
              </a:rPr>
              <a:t>Conexão confiável</a:t>
            </a:r>
          </a:p>
          <a:p>
            <a:r>
              <a:rPr lang="pt-BR" dirty="0">
                <a:solidFill>
                  <a:schemeClr val="tx1"/>
                </a:solidFill>
              </a:rPr>
              <a:t>Mars=</a:t>
            </a:r>
            <a:r>
              <a:rPr lang="pt-BR" dirty="0" err="1">
                <a:solidFill>
                  <a:schemeClr val="tx1"/>
                </a:solidFill>
              </a:rPr>
              <a:t>true</a:t>
            </a:r>
            <a:endParaRPr lang="pt-BR" dirty="0">
              <a:solidFill>
                <a:schemeClr val="tx1"/>
              </a:solidFill>
            </a:endParaRPr>
          </a:p>
          <a:p>
            <a:pPr lvl="1"/>
            <a:r>
              <a:rPr lang="pt-BR" dirty="0">
                <a:solidFill>
                  <a:schemeClr val="tx1"/>
                </a:solidFill>
              </a:rPr>
              <a:t>Varias requisições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369EA85-52E5-66ED-D5F4-EE3979C53307}"/>
              </a:ext>
            </a:extLst>
          </p:cNvPr>
          <p:cNvSpPr txBox="1"/>
          <p:nvPr/>
        </p:nvSpPr>
        <p:spPr>
          <a:xfrm>
            <a:off x="6016752" y="365760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MARS vai servir para que consigamos fazer uma requisição sem que tenhamos que cumprir todas requisições de segurança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E64AEE5-4814-FF00-E5C6-ADFABAEE93D9}"/>
              </a:ext>
            </a:extLst>
          </p:cNvPr>
          <p:cNvSpPr/>
          <p:nvPr/>
        </p:nvSpPr>
        <p:spPr>
          <a:xfrm>
            <a:off x="1609344" y="3493008"/>
            <a:ext cx="4133088" cy="7315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2917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82E335F-A695-106D-3E4B-23F93147E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Program.cs</a:t>
            </a:r>
            <a:endParaRPr lang="pt-BR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24D76F4-941A-224B-04B7-3830A4383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Alterações no </a:t>
            </a:r>
            <a:r>
              <a:rPr lang="pt-BR" dirty="0" err="1">
                <a:solidFill>
                  <a:schemeClr val="tx1"/>
                </a:solidFill>
              </a:rPr>
              <a:t>program.cs</a:t>
            </a:r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24" name="Espaço Reservado para Conteúdo 23">
            <a:extLst>
              <a:ext uri="{FF2B5EF4-FFF2-40B4-BE49-F238E27FC236}">
                <a16:creationId xmlns:a16="http://schemas.microsoft.com/office/drawing/2014/main" id="{68EDF299-F506-B961-3D7D-FAF35AED77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61872" y="2724927"/>
            <a:ext cx="2800672" cy="73152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D2610140-1234-E605-0B87-4698DAEDE8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Registro do serviço no container (com ordem correta)</a:t>
            </a:r>
          </a:p>
        </p:txBody>
      </p:sp>
      <p:pic>
        <p:nvPicPr>
          <p:cNvPr id="28" name="Espaço Reservado para Conteúdo 27">
            <a:extLst>
              <a:ext uri="{FF2B5EF4-FFF2-40B4-BE49-F238E27FC236}">
                <a16:creationId xmlns:a16="http://schemas.microsoft.com/office/drawing/2014/main" id="{C1EE5C11-85E0-FAF8-F84D-CEBF97FE6E8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096000" y="2724927"/>
            <a:ext cx="4481512" cy="132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142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711507-79F9-1C1E-6644-F5CF42AF1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59" y="172629"/>
            <a:ext cx="8534400" cy="1507067"/>
          </a:xfrm>
        </p:spPr>
        <p:txBody>
          <a:bodyPr/>
          <a:lstStyle/>
          <a:p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Migration</a:t>
            </a:r>
            <a:br>
              <a:rPr lang="pt-BR" dirty="0"/>
            </a:br>
            <a:r>
              <a:rPr lang="pt-BR" sz="2400" dirty="0"/>
              <a:t>&gt; inicial </a:t>
            </a:r>
            <a:r>
              <a:rPr lang="pt-BR" sz="2400" dirty="0" err="1"/>
              <a:t>entities</a:t>
            </a:r>
            <a:endParaRPr lang="pt-BR" sz="2400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05B3B1-09B8-1D3F-F601-C7B9F33EC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673" y="1726110"/>
            <a:ext cx="4480560" cy="73152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Caminho para o terminal </a:t>
            </a:r>
          </a:p>
          <a:p>
            <a:r>
              <a:rPr lang="pt-BR" dirty="0"/>
              <a:t>(ou Ctrl+’)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EB82533A-4BF1-EF65-AD82-305B30DCDD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7673" y="2586145"/>
            <a:ext cx="2772163" cy="206421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34BB7CF-9169-5D51-3249-C5F8C20E9D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56892" y="2121419"/>
            <a:ext cx="4481512" cy="586274"/>
          </a:xfrm>
        </p:spPr>
        <p:txBody>
          <a:bodyPr>
            <a:normAutofit/>
          </a:bodyPr>
          <a:lstStyle/>
          <a:p>
            <a:r>
              <a:rPr lang="pt-BR" sz="1400" dirty="0"/>
              <a:t>Adicionando uma migração</a:t>
            </a:r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85B7A12D-4531-A000-0EAA-822A3B67919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3553968" y="2800521"/>
            <a:ext cx="2878851" cy="83941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77F2C62-86B8-7E41-E9F8-89085E94A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383" y="4696950"/>
            <a:ext cx="2880436" cy="978681"/>
          </a:xfrm>
          <a:prstGeom prst="rect">
            <a:avLst/>
          </a:prstGeom>
        </p:spPr>
      </p:pic>
      <p:sp>
        <p:nvSpPr>
          <p:cNvPr id="13" name="Espaço Reservado para Texto 4">
            <a:extLst>
              <a:ext uri="{FF2B5EF4-FFF2-40B4-BE49-F238E27FC236}">
                <a16:creationId xmlns:a16="http://schemas.microsoft.com/office/drawing/2014/main" id="{BB0F696E-B98B-7744-62D4-9638BBA2DF01}"/>
              </a:ext>
            </a:extLst>
          </p:cNvPr>
          <p:cNvSpPr txBox="1">
            <a:spLocks/>
          </p:cNvSpPr>
          <p:nvPr/>
        </p:nvSpPr>
        <p:spPr>
          <a:xfrm>
            <a:off x="3550796" y="4107234"/>
            <a:ext cx="4479925" cy="5862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Criando o banco de dados de fato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402ED3D8-EEE3-27D0-7916-97BF046D0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759" y="3639933"/>
            <a:ext cx="2772162" cy="543001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96507651-F8B1-744C-3747-2CBBF3F10614}"/>
              </a:ext>
            </a:extLst>
          </p:cNvPr>
          <p:cNvSpPr txBox="1"/>
          <p:nvPr/>
        </p:nvSpPr>
        <p:spPr>
          <a:xfrm>
            <a:off x="7242048" y="4107234"/>
            <a:ext cx="2029968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1200" dirty="0"/>
              <a:t>Snapshot: manter o banco sincronizado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00D2CE4-F5F5-33FC-0528-50B2A01A6EC5}"/>
              </a:ext>
            </a:extLst>
          </p:cNvPr>
          <p:cNvSpPr txBox="1"/>
          <p:nvPr/>
        </p:nvSpPr>
        <p:spPr>
          <a:xfrm>
            <a:off x="6909816" y="3227252"/>
            <a:ext cx="2029968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1200" dirty="0" err="1"/>
              <a:t>initialEntities</a:t>
            </a:r>
            <a:r>
              <a:rPr lang="pt-BR" sz="1200" dirty="0"/>
              <a:t>: </a:t>
            </a:r>
            <a:r>
              <a:rPr lang="pt-BR" sz="1200" dirty="0" err="1"/>
              <a:t>iniserir</a:t>
            </a:r>
            <a:r>
              <a:rPr lang="pt-BR" sz="1200" dirty="0"/>
              <a:t> dados iniciais para iniciar a aplicação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917017F7-93C4-6738-938A-390EC9DDEE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8796" y="1385946"/>
            <a:ext cx="1672713" cy="3026664"/>
          </a:xfrm>
          <a:prstGeom prst="rect">
            <a:avLst/>
          </a:prstGeom>
        </p:spPr>
      </p:pic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8A7DB38B-94B3-078B-9564-C84F0ED79836}"/>
              </a:ext>
            </a:extLst>
          </p:cNvPr>
          <p:cNvCxnSpPr>
            <a:stCxn id="19" idx="2"/>
          </p:cNvCxnSpPr>
          <p:nvPr/>
        </p:nvCxnSpPr>
        <p:spPr>
          <a:xfrm flipH="1">
            <a:off x="10314432" y="4412610"/>
            <a:ext cx="280721" cy="11743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9F72C48-27CB-56EF-6F2D-4E17073139F9}"/>
              </a:ext>
            </a:extLst>
          </p:cNvPr>
          <p:cNvSpPr txBox="1"/>
          <p:nvPr/>
        </p:nvSpPr>
        <p:spPr>
          <a:xfrm>
            <a:off x="9478075" y="5611623"/>
            <a:ext cx="167271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Banco criado</a:t>
            </a:r>
          </a:p>
        </p:txBody>
      </p:sp>
    </p:spTree>
    <p:extLst>
      <p:ext uri="{BB962C8B-B14F-4D97-AF65-F5344CB8AC3E}">
        <p14:creationId xmlns:p14="http://schemas.microsoft.com/office/powerpoint/2010/main" val="1146671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0F423-48CD-44A0-C09A-255D2C78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944" y="173370"/>
            <a:ext cx="8534400" cy="1507067"/>
          </a:xfrm>
        </p:spPr>
        <p:txBody>
          <a:bodyPr/>
          <a:lstStyle/>
          <a:p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seedMigration</a:t>
            </a:r>
            <a:endParaRPr lang="pt-BR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FC25E492-2B6C-DC86-F696-4CD57F35B8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844187"/>
            <a:ext cx="2856288" cy="215118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12B8BB8-6A34-E84A-6FC6-408D8989C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1" y="2396161"/>
            <a:ext cx="3548006" cy="126097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2E0AAF7-80CC-4664-D5E4-555BA2B9A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798356"/>
            <a:ext cx="2856288" cy="39127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FA3365C-39A2-15D4-BDAC-A93E1B4C007A}"/>
              </a:ext>
            </a:extLst>
          </p:cNvPr>
          <p:cNvSpPr txBox="1"/>
          <p:nvPr/>
        </p:nvSpPr>
        <p:spPr>
          <a:xfrm>
            <a:off x="4727448" y="1767613"/>
            <a:ext cx="6601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Criamos uma </a:t>
            </a:r>
            <a:r>
              <a:rPr lang="pt-BR" dirty="0" err="1"/>
              <a:t>migration</a:t>
            </a:r>
            <a:r>
              <a:rPr lang="pt-BR" dirty="0"/>
              <a:t> com a nomenclatura </a:t>
            </a:r>
            <a:r>
              <a:rPr lang="pt-BR" dirty="0" err="1"/>
              <a:t>seedNome</a:t>
            </a:r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BB0BCB0-DF70-6678-FCAC-AF6B47F404CE}"/>
              </a:ext>
            </a:extLst>
          </p:cNvPr>
          <p:cNvSpPr txBox="1"/>
          <p:nvPr/>
        </p:nvSpPr>
        <p:spPr>
          <a:xfrm>
            <a:off x="4988119" y="2396161"/>
            <a:ext cx="43783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Colamos o código de </a:t>
            </a:r>
            <a:r>
              <a:rPr lang="pt-BR" dirty="0" err="1"/>
              <a:t>insert</a:t>
            </a:r>
            <a:r>
              <a:rPr lang="pt-BR" dirty="0"/>
              <a:t> estilo </a:t>
            </a:r>
            <a:r>
              <a:rPr lang="pt-BR" dirty="0" err="1"/>
              <a:t>sql</a:t>
            </a:r>
            <a:r>
              <a:rPr lang="pt-BR" dirty="0"/>
              <a:t> com os dados da tabela na parte de UP onde atualizamos o banco sem acessá-lo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7D2BC95-2834-4680-2C40-651F6A86C161}"/>
              </a:ext>
            </a:extLst>
          </p:cNvPr>
          <p:cNvSpPr txBox="1"/>
          <p:nvPr/>
        </p:nvSpPr>
        <p:spPr>
          <a:xfrm>
            <a:off x="4227888" y="3798356"/>
            <a:ext cx="4378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Atualizamos o banco para aparecer os dados inseridos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C9BEF426-0D6E-AAB5-B978-A594877E09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561205"/>
            <a:ext cx="3324689" cy="151468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670F1154-1DA6-09CC-4D34-3C8E811F56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100" y="5437572"/>
            <a:ext cx="4080877" cy="127663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CA0E394D-0A65-E3A6-3DE6-9EC13CE79A09}"/>
              </a:ext>
            </a:extLst>
          </p:cNvPr>
          <p:cNvSpPr txBox="1"/>
          <p:nvPr/>
        </p:nvSpPr>
        <p:spPr>
          <a:xfrm>
            <a:off x="8523977" y="5318548"/>
            <a:ext cx="1947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Verificando se funcionou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140891A-6360-5CE0-BF1D-17D6F9EEBF08}"/>
              </a:ext>
            </a:extLst>
          </p:cNvPr>
          <p:cNvSpPr txBox="1"/>
          <p:nvPr/>
        </p:nvSpPr>
        <p:spPr>
          <a:xfrm>
            <a:off x="5104032" y="169502"/>
            <a:ext cx="59784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o nome das </a:t>
            </a:r>
            <a:r>
              <a:rPr lang="pt-BR" dirty="0" err="1">
                <a:solidFill>
                  <a:srgbClr val="FF0000"/>
                </a:solidFill>
              </a:rPr>
              <a:t>migrations</a:t>
            </a:r>
            <a:r>
              <a:rPr lang="pt-BR" dirty="0">
                <a:solidFill>
                  <a:srgbClr val="FF0000"/>
                </a:solidFill>
              </a:rPr>
              <a:t> criadas não afetam diretamente no comportamento, porém por boa pratica colocamos “</a:t>
            </a:r>
            <a:r>
              <a:rPr lang="pt-BR" dirty="0" err="1">
                <a:solidFill>
                  <a:srgbClr val="FF0000"/>
                </a:solidFill>
              </a:rPr>
              <a:t>seed</a:t>
            </a:r>
            <a:r>
              <a:rPr lang="pt-BR" dirty="0">
                <a:solidFill>
                  <a:srgbClr val="FF0000"/>
                </a:solidFill>
              </a:rPr>
              <a:t>”, pois serve para indicar um serviço (já existe “semear”). O que realmente importa e a alteração que temos no banco de dados dentro do código em si</a:t>
            </a:r>
          </a:p>
        </p:txBody>
      </p:sp>
    </p:spTree>
    <p:extLst>
      <p:ext uri="{BB962C8B-B14F-4D97-AF65-F5344CB8AC3E}">
        <p14:creationId xmlns:p14="http://schemas.microsoft.com/office/powerpoint/2010/main" val="2030819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C05116-B391-F41E-C761-B02778D0F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seedMigration</a:t>
            </a:r>
            <a:r>
              <a:rPr lang="pt-BR" dirty="0">
                <a:solidFill>
                  <a:schemeClr val="bg1"/>
                </a:solidFill>
                <a:highlight>
                  <a:srgbClr val="FFFF00"/>
                </a:highlight>
              </a:rPr>
              <a:t>-</a:t>
            </a:r>
            <a:r>
              <a:rPr lang="pt-BR" dirty="0"/>
              <a:t>estrutura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C9C2C9C-A3A2-B39B-DFCE-1067076BD0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6105" y="685800"/>
            <a:ext cx="7370615" cy="361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874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815D9-FA01-6470-A6AA-C109E9184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highlight>
                  <a:srgbClr val="FFFF00"/>
                </a:highlight>
              </a:rPr>
              <a:t>Interfaces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42F1CD-C198-F550-55A0-84550B705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São contratos para garantir o repositório</a:t>
            </a:r>
          </a:p>
          <a:p>
            <a:pPr lvl="1"/>
            <a:r>
              <a:rPr lang="pt-BR" dirty="0">
                <a:solidFill>
                  <a:schemeClr val="tx1"/>
                </a:solidFill>
              </a:rPr>
              <a:t>Para garantir as implementações corretas do repositório</a:t>
            </a:r>
          </a:p>
          <a:p>
            <a:pPr lvl="2"/>
            <a:r>
              <a:rPr lang="pt-BR" dirty="0">
                <a:solidFill>
                  <a:schemeClr val="tx1"/>
                </a:solidFill>
              </a:rPr>
              <a:t>Garante a logica dos métodos</a:t>
            </a:r>
          </a:p>
          <a:p>
            <a:pPr lvl="3"/>
            <a:r>
              <a:rPr lang="pt-BR" dirty="0">
                <a:solidFill>
                  <a:schemeClr val="tx1"/>
                </a:solidFill>
              </a:rPr>
              <a:t>Caso na interface eu tenha um método que exija </a:t>
            </a:r>
            <a:r>
              <a:rPr lang="pt-BR" dirty="0" err="1">
                <a:solidFill>
                  <a:schemeClr val="tx1"/>
                </a:solidFill>
              </a:rPr>
              <a:t>string</a:t>
            </a:r>
            <a:r>
              <a:rPr lang="pt-BR" dirty="0">
                <a:solidFill>
                  <a:schemeClr val="tx1"/>
                </a:solidFill>
              </a:rPr>
              <a:t> e int, na model obrigatoriamente precisamos usar </a:t>
            </a:r>
            <a:r>
              <a:rPr lang="pt-BR" dirty="0" err="1">
                <a:solidFill>
                  <a:schemeClr val="tx1"/>
                </a:solidFill>
              </a:rPr>
              <a:t>string</a:t>
            </a:r>
            <a:r>
              <a:rPr lang="pt-BR" dirty="0">
                <a:solidFill>
                  <a:schemeClr val="tx1"/>
                </a:solidFill>
              </a:rPr>
              <a:t> e int</a:t>
            </a:r>
          </a:p>
        </p:txBody>
      </p:sp>
    </p:spTree>
    <p:extLst>
      <p:ext uri="{BB962C8B-B14F-4D97-AF65-F5344CB8AC3E}">
        <p14:creationId xmlns:p14="http://schemas.microsoft.com/office/powerpoint/2010/main" val="2625080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BD591-FCF7-2D78-ACC2-925B52081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42336"/>
            <a:ext cx="8534400" cy="1507067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  <a:highlight>
                  <a:srgbClr val="FFFF00"/>
                </a:highlight>
              </a:rPr>
              <a:t>Criando interface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4F0B923-501F-507D-4367-21F0B003B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872" y="1899349"/>
            <a:ext cx="7582958" cy="135273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A0A1BC1-C0AC-7105-D4EB-C98CD9BCA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3351980"/>
            <a:ext cx="5091303" cy="3506020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C3CD101-A481-D169-5305-77E1D1F7B8D7}"/>
              </a:ext>
            </a:extLst>
          </p:cNvPr>
          <p:cNvCxnSpPr/>
          <p:nvPr/>
        </p:nvCxnSpPr>
        <p:spPr>
          <a:xfrm>
            <a:off x="4956048" y="1984248"/>
            <a:ext cx="62179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BE1659DC-4B3E-3EDF-DD69-C55D4B57493D}"/>
              </a:ext>
            </a:extLst>
          </p:cNvPr>
          <p:cNvCxnSpPr/>
          <p:nvPr/>
        </p:nvCxnSpPr>
        <p:spPr>
          <a:xfrm>
            <a:off x="4431559" y="2575718"/>
            <a:ext cx="62179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38A2E03-0E1B-189F-7FF1-ED4AF5D0D590}"/>
              </a:ext>
            </a:extLst>
          </p:cNvPr>
          <p:cNvCxnSpPr>
            <a:cxnSpLocks/>
          </p:cNvCxnSpPr>
          <p:nvPr/>
        </p:nvCxnSpPr>
        <p:spPr>
          <a:xfrm flipH="1">
            <a:off x="2206286" y="2816928"/>
            <a:ext cx="344890" cy="3234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m 13">
            <a:extLst>
              <a:ext uri="{FF2B5EF4-FFF2-40B4-BE49-F238E27FC236}">
                <a16:creationId xmlns:a16="http://schemas.microsoft.com/office/drawing/2014/main" id="{31C42942-2C0F-0292-2C42-2FCA04D1D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505" y="3399605"/>
            <a:ext cx="4082971" cy="205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2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BA80A-4116-1D63-2A7B-F44DE702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90522"/>
            <a:ext cx="9794812" cy="1507067"/>
          </a:xfrm>
        </p:spPr>
        <p:txBody>
          <a:bodyPr/>
          <a:lstStyle/>
          <a:p>
            <a:r>
              <a:rPr lang="pt-BR" dirty="0"/>
              <a:t>Interface\</a:t>
            </a:r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IC</a:t>
            </a:r>
            <a:r>
              <a:rPr lang="pt-BR" sz="3200" dirty="0" err="1">
                <a:solidFill>
                  <a:schemeClr val="bg1"/>
                </a:solidFill>
                <a:highlight>
                  <a:srgbClr val="FFFF00"/>
                </a:highlight>
              </a:rPr>
              <a:t>lassificacao</a:t>
            </a:r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R</a:t>
            </a:r>
            <a:r>
              <a:rPr lang="pt-BR" sz="3200" dirty="0" err="1">
                <a:solidFill>
                  <a:schemeClr val="bg1"/>
                </a:solidFill>
                <a:highlight>
                  <a:srgbClr val="FFFF00"/>
                </a:highlight>
              </a:rPr>
              <a:t>epository</a:t>
            </a:r>
            <a:r>
              <a:rPr lang="pt-BR" sz="3200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endParaRPr lang="pt-BR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2208DEB-E4D7-A660-9051-773D005CC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872" y="1941875"/>
            <a:ext cx="5010849" cy="344853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97C6C5C-A602-7C17-0E4B-081DCD0D9837}"/>
              </a:ext>
            </a:extLst>
          </p:cNvPr>
          <p:cNvSpPr txBox="1"/>
          <p:nvPr/>
        </p:nvSpPr>
        <p:spPr>
          <a:xfrm>
            <a:off x="6812280" y="2057400"/>
            <a:ext cx="42519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Task é uma tarefa, para gerar uma lista</a:t>
            </a:r>
          </a:p>
          <a:p>
            <a:r>
              <a:rPr lang="pt-BR" dirty="0" err="1"/>
              <a:t>GetAllAsync</a:t>
            </a:r>
            <a:r>
              <a:rPr lang="pt-BR" dirty="0"/>
              <a:t>()</a:t>
            </a:r>
          </a:p>
          <a:p>
            <a:r>
              <a:rPr lang="pt-BR" dirty="0"/>
              <a:t>O </a:t>
            </a:r>
            <a:r>
              <a:rPr lang="pt-BR" dirty="0" err="1"/>
              <a:t>async</a:t>
            </a:r>
            <a:r>
              <a:rPr lang="pt-BR" dirty="0"/>
              <a:t> é para rodar diversas tarefas assíncronas, isso faz com que varias tarefas sejam executadas ao mesmo tempo para não travar o fluxo de </a:t>
            </a:r>
            <a:r>
              <a:rPr lang="pt-BR" dirty="0" err="1"/>
              <a:t>codigo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D5B683D-2292-34D4-83EB-645F98739073}"/>
              </a:ext>
            </a:extLst>
          </p:cNvPr>
          <p:cNvSpPr txBox="1"/>
          <p:nvPr/>
        </p:nvSpPr>
        <p:spPr>
          <a:xfrm>
            <a:off x="6711696" y="4654296"/>
            <a:ext cx="37673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Todas interfaces se baseiam nessa assinatura de </a:t>
            </a:r>
            <a:r>
              <a:rPr lang="pt-BR" dirty="0" err="1">
                <a:solidFill>
                  <a:srgbClr val="FF0000"/>
                </a:solidFill>
              </a:rPr>
              <a:t>crud</a:t>
            </a:r>
            <a:r>
              <a:rPr lang="pt-BR" dirty="0">
                <a:solidFill>
                  <a:srgbClr val="FF0000"/>
                </a:solidFill>
              </a:rPr>
              <a:t>, com exceção do usuário que tem o método de ativar inativar</a:t>
            </a:r>
          </a:p>
          <a:p>
            <a:r>
              <a:rPr lang="pt-BR" dirty="0">
                <a:solidFill>
                  <a:srgbClr val="FF0000"/>
                </a:solidFill>
              </a:rPr>
              <a:t>E filme que pode ter a lista para filtrar</a:t>
            </a:r>
          </a:p>
        </p:txBody>
      </p:sp>
    </p:spTree>
    <p:extLst>
      <p:ext uri="{BB962C8B-B14F-4D97-AF65-F5344CB8AC3E}">
        <p14:creationId xmlns:p14="http://schemas.microsoft.com/office/powerpoint/2010/main" val="3915567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E44F6-1E30-F5CF-05D6-6AD089FC3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321" y="210895"/>
            <a:ext cx="8534400" cy="1507067"/>
          </a:xfrm>
        </p:spPr>
        <p:txBody>
          <a:bodyPr/>
          <a:lstStyle/>
          <a:p>
            <a:r>
              <a:rPr lang="pt-BR" dirty="0"/>
              <a:t>Interface\</a:t>
            </a:r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IUsuarioRepository</a:t>
            </a:r>
            <a:endParaRPr lang="pt-BR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AD8E581-7679-2E2D-5757-149222388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3236" y="1717962"/>
            <a:ext cx="5770898" cy="3614738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534906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F01C5-CA19-A27F-154B-B30ABA4EA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184255"/>
            <a:ext cx="8534400" cy="1507067"/>
          </a:xfrm>
        </p:spPr>
        <p:txBody>
          <a:bodyPr/>
          <a:lstStyle/>
          <a:p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Repositories</a:t>
            </a:r>
            <a:endParaRPr lang="pt-BR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CB53F45-AB32-4CD2-B4D1-8F5E28A5A5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872" y="1691322"/>
            <a:ext cx="4387675" cy="258540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114E24C-B8A4-289D-E478-647080222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984" y="3249199"/>
            <a:ext cx="4482138" cy="311034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71331E6-4E5C-AA8A-6DE9-FBBF8AC85ED8}"/>
              </a:ext>
            </a:extLst>
          </p:cNvPr>
          <p:cNvSpPr txBox="1"/>
          <p:nvPr/>
        </p:nvSpPr>
        <p:spPr>
          <a:xfrm>
            <a:off x="5934456" y="1563624"/>
            <a:ext cx="4480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Cada interface precisa ter sua classe base, que no caso são os repositor.</a:t>
            </a:r>
          </a:p>
          <a:p>
            <a:r>
              <a:rPr lang="pt-BR" dirty="0"/>
              <a:t>Esses contém o mesmo nome, porém sem o “I” no começo.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7B80463-2754-2821-525C-78A9E1062476}"/>
              </a:ext>
            </a:extLst>
          </p:cNvPr>
          <p:cNvSpPr txBox="1"/>
          <p:nvPr/>
        </p:nvSpPr>
        <p:spPr>
          <a:xfrm>
            <a:off x="1328206" y="4566513"/>
            <a:ext cx="4480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São eles que vão herdar as regras da interface, assim que forem implementados</a:t>
            </a:r>
          </a:p>
        </p:txBody>
      </p:sp>
    </p:spTree>
    <p:extLst>
      <p:ext uri="{BB962C8B-B14F-4D97-AF65-F5344CB8AC3E}">
        <p14:creationId xmlns:p14="http://schemas.microsoft.com/office/powerpoint/2010/main" val="85506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6436F-C3D1-3FA7-46D0-9FB4F5D35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ClassificacaoRepository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2EDA9FF-71C1-A454-911A-F1B0C64BDE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4546" y="887518"/>
            <a:ext cx="3877056" cy="116373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5B9D0F2-A861-2E66-A9E9-C32918514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490" y="1830779"/>
            <a:ext cx="3877056" cy="316106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18D23F4-A327-47DC-12D2-536C64107DB3}"/>
              </a:ext>
            </a:extLst>
          </p:cNvPr>
          <p:cNvSpPr txBox="1"/>
          <p:nvPr/>
        </p:nvSpPr>
        <p:spPr>
          <a:xfrm>
            <a:off x="5221224" y="1965960"/>
            <a:ext cx="33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herdamos da interface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B5329ED-D2E4-61C6-F16C-912F7898CCC5}"/>
              </a:ext>
            </a:extLst>
          </p:cNvPr>
          <p:cNvSpPr txBox="1"/>
          <p:nvPr/>
        </p:nvSpPr>
        <p:spPr>
          <a:xfrm>
            <a:off x="5375150" y="3429000"/>
            <a:ext cx="33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Implementamos</a:t>
            </a:r>
          </a:p>
        </p:txBody>
      </p:sp>
    </p:spTree>
    <p:extLst>
      <p:ext uri="{BB962C8B-B14F-4D97-AF65-F5344CB8AC3E}">
        <p14:creationId xmlns:p14="http://schemas.microsoft.com/office/powerpoint/2010/main" val="23233684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7EBA020-38C8-5610-6555-2124FE61B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872" y="1883664"/>
            <a:ext cx="6637894" cy="435133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9F692C6-0CD5-9F2B-5877-EE4C064B56E9}"/>
              </a:ext>
            </a:extLst>
          </p:cNvPr>
          <p:cNvSpPr txBox="1"/>
          <p:nvPr/>
        </p:nvSpPr>
        <p:spPr>
          <a:xfrm>
            <a:off x="7717536" y="4389120"/>
            <a:ext cx="2889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rgbClr val="FF0000"/>
                </a:solidFill>
              </a:rPr>
              <a:t>Await</a:t>
            </a:r>
            <a:r>
              <a:rPr lang="pt-BR" sz="1400" dirty="0">
                <a:solidFill>
                  <a:srgbClr val="FF0000"/>
                </a:solidFill>
              </a:rPr>
              <a:t>: deixa a tarefa esperando para ser executada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7CA72A-0134-9321-7CF3-55986A4C0773}"/>
              </a:ext>
            </a:extLst>
          </p:cNvPr>
          <p:cNvSpPr txBox="1"/>
          <p:nvPr/>
        </p:nvSpPr>
        <p:spPr>
          <a:xfrm>
            <a:off x="7495032" y="3488795"/>
            <a:ext cx="2889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Construtor - Injeção de dependência do contexto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B9180F-7D20-5C21-AE4B-4847DFA955E9}"/>
              </a:ext>
            </a:extLst>
          </p:cNvPr>
          <p:cNvSpPr txBox="1"/>
          <p:nvPr/>
        </p:nvSpPr>
        <p:spPr>
          <a:xfrm>
            <a:off x="7345680" y="3038633"/>
            <a:ext cx="2889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Campo de apoio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BC55D0B-F37D-8CD5-20B9-2497D178B122}"/>
              </a:ext>
            </a:extLst>
          </p:cNvPr>
          <p:cNvSpPr txBox="1"/>
          <p:nvPr/>
        </p:nvSpPr>
        <p:spPr>
          <a:xfrm>
            <a:off x="5596128" y="2044875"/>
            <a:ext cx="2889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rgbClr val="FF0000"/>
                </a:solidFill>
              </a:rPr>
              <a:t>Using</a:t>
            </a:r>
            <a:r>
              <a:rPr lang="pt-BR" sz="1400" dirty="0">
                <a:solidFill>
                  <a:srgbClr val="FF0000"/>
                </a:solidFill>
              </a:rPr>
              <a:t> necessários, serão solicitados pelo código</a:t>
            </a:r>
          </a:p>
        </p:txBody>
      </p:sp>
    </p:spTree>
    <p:extLst>
      <p:ext uri="{BB962C8B-B14F-4D97-AF65-F5344CB8AC3E}">
        <p14:creationId xmlns:p14="http://schemas.microsoft.com/office/powerpoint/2010/main" val="569230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74C9D-DCA9-1623-8EF1-5C28A235C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5400" dirty="0" err="1">
                <a:solidFill>
                  <a:schemeClr val="bg1"/>
                </a:solidFill>
                <a:highlight>
                  <a:srgbClr val="FFFF00"/>
                </a:highlight>
              </a:rPr>
              <a:t>Async</a:t>
            </a:r>
            <a:r>
              <a:rPr lang="pt-BR" sz="5400" dirty="0">
                <a:solidFill>
                  <a:schemeClr val="bg1"/>
                </a:solidFill>
                <a:highlight>
                  <a:srgbClr val="FFFF00"/>
                </a:highlight>
              </a:rPr>
              <a:t> e </a:t>
            </a:r>
            <a:r>
              <a:rPr lang="pt-BR" sz="5400" dirty="0" err="1">
                <a:solidFill>
                  <a:schemeClr val="bg1"/>
                </a:solidFill>
                <a:highlight>
                  <a:srgbClr val="FFFF00"/>
                </a:highlight>
              </a:rPr>
              <a:t>await</a:t>
            </a:r>
            <a:r>
              <a:rPr lang="pt-BR" sz="5400" dirty="0">
                <a:solidFill>
                  <a:schemeClr val="bg1"/>
                </a:solidFill>
                <a:highlight>
                  <a:srgbClr val="FFFF00"/>
                </a:highlight>
              </a:rPr>
              <a:t>:</a:t>
            </a:r>
            <a:br>
              <a:rPr lang="pt-BR" sz="5400" dirty="0"/>
            </a:br>
            <a:r>
              <a:rPr lang="pt-BR" sz="2400" dirty="0">
                <a:solidFill>
                  <a:srgbClr val="FF0000"/>
                </a:solidFill>
              </a:rPr>
              <a:t>Quando usamos um método </a:t>
            </a:r>
            <a:r>
              <a:rPr lang="pt-BR" sz="2400" dirty="0" err="1">
                <a:solidFill>
                  <a:srgbClr val="FF0000"/>
                </a:solidFill>
              </a:rPr>
              <a:t>await</a:t>
            </a:r>
            <a:r>
              <a:rPr lang="pt-BR" sz="2400" dirty="0">
                <a:solidFill>
                  <a:srgbClr val="FF0000"/>
                </a:solidFill>
              </a:rPr>
              <a:t>, a função precisa ser assíncrona</a:t>
            </a:r>
            <a:endParaRPr lang="pt-BR" sz="6600" dirty="0">
              <a:solidFill>
                <a:srgbClr val="FF0000"/>
              </a:solidFill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5E565E8-EF30-CA9C-36C7-D33E8038C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013" y="1421457"/>
            <a:ext cx="6982799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4140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4B476A5-AA2C-68D6-5B5B-AB2581A68F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872" y="1920240"/>
            <a:ext cx="5062831" cy="435133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F87F30F-D426-14EA-5EEC-997B3C049901}"/>
              </a:ext>
            </a:extLst>
          </p:cNvPr>
          <p:cNvSpPr txBox="1"/>
          <p:nvPr/>
        </p:nvSpPr>
        <p:spPr>
          <a:xfrm>
            <a:off x="6510528" y="1920240"/>
            <a:ext cx="3767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Criando a parte de filme, CRUD </a:t>
            </a:r>
          </a:p>
          <a:p>
            <a:r>
              <a:rPr lang="pt-BR" dirty="0">
                <a:solidFill>
                  <a:srgbClr val="FF0000"/>
                </a:solidFill>
              </a:rPr>
              <a:t>Passo a passo com cada função</a:t>
            </a:r>
          </a:p>
        </p:txBody>
      </p:sp>
    </p:spTree>
    <p:extLst>
      <p:ext uri="{BB962C8B-B14F-4D97-AF65-F5344CB8AC3E}">
        <p14:creationId xmlns:p14="http://schemas.microsoft.com/office/powerpoint/2010/main" val="12005948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125859B-B21E-C227-5493-61F92DF5E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2064" y="1881067"/>
            <a:ext cx="7200124" cy="355770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62DF047-F365-6DE1-759F-206E78ED44FA}"/>
              </a:ext>
            </a:extLst>
          </p:cNvPr>
          <p:cNvSpPr txBox="1"/>
          <p:nvPr/>
        </p:nvSpPr>
        <p:spPr>
          <a:xfrm>
            <a:off x="8462188" y="1881067"/>
            <a:ext cx="2724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Criando o restos da funções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CE1F936-9529-C798-38A8-B7946E986F8E}"/>
              </a:ext>
            </a:extLst>
          </p:cNvPr>
          <p:cNvSpPr txBox="1"/>
          <p:nvPr/>
        </p:nvSpPr>
        <p:spPr>
          <a:xfrm>
            <a:off x="8462188" y="4330603"/>
            <a:ext cx="2724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Estudar cada função</a:t>
            </a:r>
          </a:p>
          <a:p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O que faz</a:t>
            </a:r>
          </a:p>
          <a:p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pra que faz</a:t>
            </a:r>
          </a:p>
          <a:p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como faz</a:t>
            </a:r>
          </a:p>
        </p:txBody>
      </p:sp>
    </p:spTree>
    <p:extLst>
      <p:ext uri="{BB962C8B-B14F-4D97-AF65-F5344CB8AC3E}">
        <p14:creationId xmlns:p14="http://schemas.microsoft.com/office/powerpoint/2010/main" val="3366415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5845C-0D9D-2B64-E4D5-12805FD32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UsuarioRepository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89FF46-2D73-45A9-56C0-44BB2AF97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760" y="227804"/>
            <a:ext cx="5967603" cy="308108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Implementação de 9 métodos da interface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2873DB-D449-7ED8-7B38-CDEB84C84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317" y="761561"/>
            <a:ext cx="3445682" cy="212076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2351B0F-35A1-5C63-7D6E-B7D929864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858" y="553905"/>
            <a:ext cx="3445683" cy="212477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C9A2215-BCBD-A85C-7D5E-994483920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317" y="3107978"/>
            <a:ext cx="3445682" cy="147007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88AC67C-C65B-CEAC-E380-D7394EAD4B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858" y="3107978"/>
            <a:ext cx="3445682" cy="160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2646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88903A-5C4E-D80E-EF68-55ACB176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ViewModels</a:t>
            </a:r>
            <a:endParaRPr lang="pt-BR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CFEAFB-BB5B-62EF-60AE-2EEEEDF3A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Serve de visualização para o lado do </a:t>
            </a:r>
            <a:r>
              <a:rPr lang="pt-BR" dirty="0" err="1"/>
              <a:t>usuario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2180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C3131-1D6D-F854-518E-02EC389D2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4B4972-8F73-EE3A-7A43-44BFAD477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FilmeViewModel</a:t>
            </a:r>
            <a:endParaRPr lang="pt-BR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1F9CBE4D-1120-133F-47EE-0E599B7B1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5311" y="685800"/>
            <a:ext cx="6192203" cy="361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1534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F3C8A-7BB4-FD4F-7778-99FC2D8C5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A982C-7AB3-39C5-76E7-2B553BA8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UsuarioViewModel</a:t>
            </a:r>
            <a:endParaRPr lang="pt-BR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FB1BB9F-707E-1548-4799-C91E9D511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660" y="685800"/>
            <a:ext cx="8487505" cy="361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713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64062-54C9-A466-415E-D933D3518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641C8-75C6-74E2-3C32-745ED8D8B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FilmeDTO</a:t>
            </a:r>
            <a:endParaRPr lang="pt-BR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AA8682F6-EB39-DE84-809A-42EB484B1C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9064" y="2166269"/>
            <a:ext cx="4915586" cy="3658111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1330971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FE738-4F9F-8F3E-0021-8BE156D4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Controller</a:t>
            </a:r>
            <a:endParaRPr lang="pt-BR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D352EE-7A67-4337-C316-3E93F9A1B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Toda lógica de acesso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BC65E28-041C-3819-27B5-41FC4E5AE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993" y="2347761"/>
            <a:ext cx="5401714" cy="136698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B68C89A-918F-AA35-EEDF-16E28117DA43}"/>
              </a:ext>
            </a:extLst>
          </p:cNvPr>
          <p:cNvSpPr txBox="1"/>
          <p:nvPr/>
        </p:nvSpPr>
        <p:spPr>
          <a:xfrm>
            <a:off x="1286993" y="4004468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Caminho para adicionar</a:t>
            </a:r>
          </a:p>
        </p:txBody>
      </p:sp>
    </p:spTree>
    <p:extLst>
      <p:ext uri="{BB962C8B-B14F-4D97-AF65-F5344CB8AC3E}">
        <p14:creationId xmlns:p14="http://schemas.microsoft.com/office/powerpoint/2010/main" val="25854293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55ACD-73BA-8A8A-BD2A-A060D7BD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solidFill>
                  <a:schemeClr val="bg1"/>
                </a:solidFill>
                <a:highlight>
                  <a:srgbClr val="FFFF00"/>
                </a:highlight>
              </a:rPr>
              <a:t>FilmeController</a:t>
            </a:r>
            <a:endParaRPr lang="pt-BR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6448538-EEEE-3F4D-A644-16108CAD1934}"/>
              </a:ext>
            </a:extLst>
          </p:cNvPr>
          <p:cNvSpPr txBox="1"/>
          <p:nvPr/>
        </p:nvSpPr>
        <p:spPr>
          <a:xfrm>
            <a:off x="6645021" y="3244334"/>
            <a:ext cx="16002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estrutura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699A34E-B7E5-A530-9499-D10D4578D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336" y="1691322"/>
            <a:ext cx="5239481" cy="4963218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4892745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3211E-9652-5F08-3F6C-F00824A3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FilmeController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525772A-ED21-9DDA-F61E-FD30E0CF0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0278" y="1984245"/>
            <a:ext cx="7049484" cy="123842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70189B3-176E-54AD-F36C-76508FA46799}"/>
              </a:ext>
            </a:extLst>
          </p:cNvPr>
          <p:cNvSpPr txBox="1"/>
          <p:nvPr/>
        </p:nvSpPr>
        <p:spPr>
          <a:xfrm>
            <a:off x="6340839" y="420565"/>
            <a:ext cx="5404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highlight>
                  <a:srgbClr val="000000"/>
                </a:highlight>
              </a:rPr>
              <a:t>Injeção de dependência</a:t>
            </a:r>
          </a:p>
        </p:txBody>
      </p:sp>
    </p:spTree>
    <p:extLst>
      <p:ext uri="{BB962C8B-B14F-4D97-AF65-F5344CB8AC3E}">
        <p14:creationId xmlns:p14="http://schemas.microsoft.com/office/powerpoint/2010/main" val="27868733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0E999-EA15-B0AE-D1C5-D8CD11D31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7309A-4BE1-93EC-21B0-DA5BB790E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FilmeController</a:t>
            </a:r>
            <a:endParaRPr lang="pt-BR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A7F474EF-1D62-5798-3730-3323F7ECFA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873" y="2157698"/>
            <a:ext cx="8072628" cy="119407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0E5B923-00B4-4C66-83E4-750B4B75AA55}"/>
              </a:ext>
            </a:extLst>
          </p:cNvPr>
          <p:cNvSpPr txBox="1"/>
          <p:nvPr/>
        </p:nvSpPr>
        <p:spPr>
          <a:xfrm>
            <a:off x="6340839" y="420565"/>
            <a:ext cx="5404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highlight>
                  <a:srgbClr val="000000"/>
                </a:highlight>
              </a:rPr>
              <a:t>construtor</a:t>
            </a:r>
          </a:p>
        </p:txBody>
      </p:sp>
    </p:spTree>
    <p:extLst>
      <p:ext uri="{BB962C8B-B14F-4D97-AF65-F5344CB8AC3E}">
        <p14:creationId xmlns:p14="http://schemas.microsoft.com/office/powerpoint/2010/main" val="35639404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7B402B46-2DC3-54D0-B71B-E9CC71197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FilmeController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2BF8A32-650B-3B26-C0CF-D341BFD13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12" y="1235285"/>
            <a:ext cx="7404965" cy="35941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BED8B11-3E00-CB0A-AB45-1707BF1968A2}"/>
              </a:ext>
            </a:extLst>
          </p:cNvPr>
          <p:cNvSpPr txBox="1"/>
          <p:nvPr/>
        </p:nvSpPr>
        <p:spPr>
          <a:xfrm>
            <a:off x="6340839" y="420565"/>
            <a:ext cx="5404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highlight>
                  <a:srgbClr val="000000"/>
                </a:highlight>
              </a:rPr>
              <a:t>Criar filme</a:t>
            </a:r>
          </a:p>
        </p:txBody>
      </p:sp>
    </p:spTree>
    <p:extLst>
      <p:ext uri="{BB962C8B-B14F-4D97-AF65-F5344CB8AC3E}">
        <p14:creationId xmlns:p14="http://schemas.microsoft.com/office/powerpoint/2010/main" val="2162111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55E46-D2F9-4FB2-CCF2-AA2B992C4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FilmeController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551D687-6142-2189-2887-CA9733502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13" y="791222"/>
            <a:ext cx="8534400" cy="3403893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B6F0091-1475-A41D-0731-C89F6B52A838}"/>
              </a:ext>
            </a:extLst>
          </p:cNvPr>
          <p:cNvSpPr txBox="1"/>
          <p:nvPr/>
        </p:nvSpPr>
        <p:spPr>
          <a:xfrm>
            <a:off x="6340839" y="420565"/>
            <a:ext cx="5404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highlight>
                  <a:srgbClr val="000000"/>
                </a:highlight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1366360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64441-84A1-ED5B-D984-CD2E35959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7F425-1F73-5506-6887-CC578D468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FilmeController</a:t>
            </a:r>
            <a:endParaRPr lang="pt-BR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1F19B486-F0AF-CCA2-A0CE-B9887BFB7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677" y="1228725"/>
            <a:ext cx="8545737" cy="542925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7E0B76D-8D6A-C9BE-1A9C-4AD46A1BFA8A}"/>
              </a:ext>
            </a:extLst>
          </p:cNvPr>
          <p:cNvSpPr txBox="1"/>
          <p:nvPr/>
        </p:nvSpPr>
        <p:spPr>
          <a:xfrm>
            <a:off x="6340838" y="420565"/>
            <a:ext cx="6177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highlight>
                  <a:srgbClr val="000000"/>
                </a:highlight>
              </a:rPr>
              <a:t>Create</a:t>
            </a:r>
            <a:r>
              <a:rPr lang="pt-BR" sz="4000" dirty="0">
                <a:highlight>
                  <a:srgbClr val="000000"/>
                </a:highlight>
              </a:rPr>
              <a:t> (com dois métodos)</a:t>
            </a:r>
          </a:p>
        </p:txBody>
      </p:sp>
    </p:spTree>
    <p:extLst>
      <p:ext uri="{BB962C8B-B14F-4D97-AF65-F5344CB8AC3E}">
        <p14:creationId xmlns:p14="http://schemas.microsoft.com/office/powerpoint/2010/main" val="14474942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A37EF-FE71-5462-0A75-1DB04B0E4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FilmeController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8DD2B20-48DB-F128-CAC9-EF085DCB0D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679" y="1379186"/>
            <a:ext cx="6511578" cy="3623259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19979D7-1568-DFB2-5610-CFA11D949983}"/>
              </a:ext>
            </a:extLst>
          </p:cNvPr>
          <p:cNvSpPr txBox="1"/>
          <p:nvPr/>
        </p:nvSpPr>
        <p:spPr>
          <a:xfrm>
            <a:off x="8199246" y="2053486"/>
            <a:ext cx="2794764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Método para carregar onde ele tem as atualizações que foram editadas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4510ACA-5D35-2B67-09D7-532D6BB43885}"/>
              </a:ext>
            </a:extLst>
          </p:cNvPr>
          <p:cNvSpPr txBox="1"/>
          <p:nvPr/>
        </p:nvSpPr>
        <p:spPr>
          <a:xfrm>
            <a:off x="6340839" y="420565"/>
            <a:ext cx="5404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highlight>
                  <a:srgbClr val="000000"/>
                </a:highlight>
              </a:rPr>
              <a:t>Edit</a:t>
            </a:r>
            <a:r>
              <a:rPr lang="pt-BR" sz="4000" dirty="0">
                <a:highlight>
                  <a:srgbClr val="000000"/>
                </a:highlight>
              </a:rPr>
              <a:t> - 01</a:t>
            </a:r>
          </a:p>
        </p:txBody>
      </p:sp>
    </p:spTree>
    <p:extLst>
      <p:ext uri="{BB962C8B-B14F-4D97-AF65-F5344CB8AC3E}">
        <p14:creationId xmlns:p14="http://schemas.microsoft.com/office/powerpoint/2010/main" val="30254191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C4CC5-CC01-2111-C6BF-6B1CE31D6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0ACC0-8703-17B8-BA09-4FFD4DBE3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FilmeController</a:t>
            </a:r>
            <a:endParaRPr lang="pt-BR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722B9601-AF69-C081-3235-D6C3988864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678" y="1491057"/>
            <a:ext cx="6167218" cy="371886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719FAFC-C05E-7CDF-55C1-B47B4A503B8F}"/>
              </a:ext>
            </a:extLst>
          </p:cNvPr>
          <p:cNvSpPr txBox="1"/>
          <p:nvPr/>
        </p:nvSpPr>
        <p:spPr>
          <a:xfrm>
            <a:off x="8227527" y="2053487"/>
            <a:ext cx="2794764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Método para subir as atualizações que foram editadas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BCDF8A04-BE79-3A3C-5999-D4E882AC45C7}"/>
              </a:ext>
            </a:extLst>
          </p:cNvPr>
          <p:cNvCxnSpPr/>
          <p:nvPr/>
        </p:nvCxnSpPr>
        <p:spPr>
          <a:xfrm>
            <a:off x="4317476" y="4854804"/>
            <a:ext cx="440231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08D21F9-362A-FB06-78CE-6851019C27E4}"/>
              </a:ext>
            </a:extLst>
          </p:cNvPr>
          <p:cNvSpPr txBox="1"/>
          <p:nvPr/>
        </p:nvSpPr>
        <p:spPr>
          <a:xfrm>
            <a:off x="8719794" y="4670138"/>
            <a:ext cx="279476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Vai atualizar o </a:t>
            </a:r>
            <a:r>
              <a:rPr lang="pt-BR" dirty="0" err="1">
                <a:solidFill>
                  <a:srgbClr val="FF0000"/>
                </a:solidFill>
              </a:rPr>
              <a:t>gridView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275ED36-86D2-6BD8-E735-51CA872AAF11}"/>
              </a:ext>
            </a:extLst>
          </p:cNvPr>
          <p:cNvSpPr txBox="1"/>
          <p:nvPr/>
        </p:nvSpPr>
        <p:spPr>
          <a:xfrm>
            <a:off x="6340839" y="420565"/>
            <a:ext cx="5404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highlight>
                  <a:srgbClr val="000000"/>
                </a:highlight>
              </a:rPr>
              <a:t>Edit</a:t>
            </a:r>
            <a:r>
              <a:rPr lang="pt-BR" sz="4000" dirty="0">
                <a:highlight>
                  <a:srgbClr val="000000"/>
                </a:highlight>
              </a:rPr>
              <a:t> – 02</a:t>
            </a:r>
          </a:p>
        </p:txBody>
      </p:sp>
    </p:spTree>
    <p:extLst>
      <p:ext uri="{BB962C8B-B14F-4D97-AF65-F5344CB8AC3E}">
        <p14:creationId xmlns:p14="http://schemas.microsoft.com/office/powerpoint/2010/main" val="12163901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046D5-9B2A-1DAD-52C2-C349AE86C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FilmeController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E951854-D19F-5F55-27E0-433E91BA3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678" y="1649503"/>
            <a:ext cx="4553585" cy="142894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C1D1F-87E6-95B8-5DE9-82567D31A5B1}"/>
              </a:ext>
            </a:extLst>
          </p:cNvPr>
          <p:cNvSpPr txBox="1"/>
          <p:nvPr/>
        </p:nvSpPr>
        <p:spPr>
          <a:xfrm>
            <a:off x="6340839" y="420565"/>
            <a:ext cx="5404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highlight>
                  <a:srgbClr val="000000"/>
                </a:highlight>
              </a:rPr>
              <a:t>Delete 01 - 02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7A9F9A0-7CA4-BB7F-9DCD-DFD539CF8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678" y="3366649"/>
            <a:ext cx="4553585" cy="134321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61E0516-47F8-3D09-CEB2-CE1531111BF6}"/>
              </a:ext>
            </a:extLst>
          </p:cNvPr>
          <p:cNvSpPr txBox="1"/>
          <p:nvPr/>
        </p:nvSpPr>
        <p:spPr>
          <a:xfrm>
            <a:off x="5873496" y="1874517"/>
            <a:ext cx="4709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Chamar a página de delete, se tiver a autorização, no caso se for um </a:t>
            </a:r>
            <a:r>
              <a:rPr lang="pt-BR" dirty="0" err="1">
                <a:solidFill>
                  <a:srgbClr val="FF0000"/>
                </a:solidFill>
              </a:rPr>
              <a:t>adm</a:t>
            </a:r>
            <a:r>
              <a:rPr lang="pt-BR" dirty="0">
                <a:solidFill>
                  <a:srgbClr val="FF0000"/>
                </a:solidFill>
              </a:rPr>
              <a:t>, leva para a ação de delete mesmo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54EFFCA-DC7D-A399-1045-D0414C0BC3C6}"/>
              </a:ext>
            </a:extLst>
          </p:cNvPr>
          <p:cNvSpPr txBox="1"/>
          <p:nvPr/>
        </p:nvSpPr>
        <p:spPr>
          <a:xfrm>
            <a:off x="5873497" y="3366649"/>
            <a:ext cx="470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Executar a ação de fato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D67076A-C812-C9D6-E9B7-F700F460E6C2}"/>
              </a:ext>
            </a:extLst>
          </p:cNvPr>
          <p:cNvSpPr txBox="1"/>
          <p:nvPr/>
        </p:nvSpPr>
        <p:spPr>
          <a:xfrm>
            <a:off x="6455665" y="5539873"/>
            <a:ext cx="4709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O mesmo vale para </a:t>
            </a:r>
            <a:r>
              <a:rPr lang="pt-BR" dirty="0" err="1">
                <a:solidFill>
                  <a:srgbClr val="FF0000"/>
                </a:solidFill>
                <a:highlight>
                  <a:srgbClr val="FFFF00"/>
                </a:highlight>
              </a:rPr>
              <a:t>create</a:t>
            </a:r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 e </a:t>
            </a:r>
            <a:r>
              <a:rPr lang="pt-BR" dirty="0" err="1">
                <a:solidFill>
                  <a:srgbClr val="FF0000"/>
                </a:solidFill>
                <a:highlight>
                  <a:srgbClr val="FFFF00"/>
                </a:highlight>
              </a:rPr>
              <a:t>edit</a:t>
            </a:r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, precisamos das autorizações para poder executar esses métodos</a:t>
            </a:r>
          </a:p>
        </p:txBody>
      </p:sp>
    </p:spTree>
    <p:extLst>
      <p:ext uri="{BB962C8B-B14F-4D97-AF65-F5344CB8AC3E}">
        <p14:creationId xmlns:p14="http://schemas.microsoft.com/office/powerpoint/2010/main" val="5000372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861E01-995C-5721-662D-5C75DEFB4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UsuarioController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24D6B91-01D9-326B-43C7-1FF1FC580E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4443" y="1474931"/>
            <a:ext cx="6030167" cy="249589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7E9A80F-A4C0-2BB9-C917-489A839612DC}"/>
              </a:ext>
            </a:extLst>
          </p:cNvPr>
          <p:cNvSpPr txBox="1"/>
          <p:nvPr/>
        </p:nvSpPr>
        <p:spPr>
          <a:xfrm>
            <a:off x="8485632" y="2276856"/>
            <a:ext cx="1783080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Construtor usando </a:t>
            </a:r>
            <a:r>
              <a:rPr lang="pt-BR" dirty="0">
                <a:solidFill>
                  <a:srgbClr val="FF0000"/>
                </a:solidFill>
              </a:rPr>
              <a:t>objetos</a:t>
            </a:r>
            <a:r>
              <a:rPr lang="pt-BR" dirty="0"/>
              <a:t> criados no campo de apoio</a:t>
            </a:r>
          </a:p>
        </p:txBody>
      </p:sp>
    </p:spTree>
    <p:extLst>
      <p:ext uri="{BB962C8B-B14F-4D97-AF65-F5344CB8AC3E}">
        <p14:creationId xmlns:p14="http://schemas.microsoft.com/office/powerpoint/2010/main" val="6263386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47E27-D654-1CC6-58A6-85B7BC64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9AB46-6BF4-9F2A-D5EF-4DE22706C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UsuarioController</a:t>
            </a:r>
            <a:endParaRPr lang="pt-BR" dirty="0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98622E09-D743-D83F-4E47-C47420CDED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4182" y="1224915"/>
            <a:ext cx="8871752" cy="35941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B825605-3A56-46AE-BDE4-678EA69E5A85}"/>
              </a:ext>
            </a:extLst>
          </p:cNvPr>
          <p:cNvSpPr txBox="1"/>
          <p:nvPr/>
        </p:nvSpPr>
        <p:spPr>
          <a:xfrm>
            <a:off x="1635726" y="4449683"/>
            <a:ext cx="840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Método index onde será mostrado todos os usuários (vide </a:t>
            </a:r>
            <a:r>
              <a:rPr lang="pt-BR" dirty="0" err="1">
                <a:solidFill>
                  <a:srgbClr val="FF0000"/>
                </a:solidFill>
              </a:rPr>
              <a:t>return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 err="1">
                <a:solidFill>
                  <a:srgbClr val="FF0000"/>
                </a:solidFill>
              </a:rPr>
              <a:t>view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usuarios</a:t>
            </a:r>
            <a:r>
              <a:rPr lang="pt-BR" dirty="0">
                <a:solidFill>
                  <a:srgbClr val="FF0000"/>
                </a:solidFill>
              </a:rPr>
              <a:t>))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85938FF-4B1B-CE39-0E46-F52D29BB674A}"/>
              </a:ext>
            </a:extLst>
          </p:cNvPr>
          <p:cNvSpPr txBox="1"/>
          <p:nvPr/>
        </p:nvSpPr>
        <p:spPr>
          <a:xfrm>
            <a:off x="6096000" y="2115840"/>
            <a:ext cx="5241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Aqui pegamos todos os usuários ativos e listamos eles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D461A90-8F21-6647-DEA0-5920F699DFAC}"/>
              </a:ext>
            </a:extLst>
          </p:cNvPr>
          <p:cNvSpPr txBox="1"/>
          <p:nvPr/>
        </p:nvSpPr>
        <p:spPr>
          <a:xfrm>
            <a:off x="3255264" y="1224915"/>
            <a:ext cx="379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Todos tem autorização do index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BA336E1-043C-4B99-4757-4CB2A7F79F91}"/>
              </a:ext>
            </a:extLst>
          </p:cNvPr>
          <p:cNvSpPr txBox="1"/>
          <p:nvPr/>
        </p:nvSpPr>
        <p:spPr>
          <a:xfrm>
            <a:off x="9817374" y="2606466"/>
            <a:ext cx="2761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FF0000"/>
                </a:solidFill>
              </a:rPr>
              <a:t>aqui usuário recebe a pesquisa, então o retorno de </a:t>
            </a:r>
            <a:r>
              <a:rPr lang="pt-BR" sz="1200" dirty="0" err="1">
                <a:solidFill>
                  <a:srgbClr val="FF0000"/>
                </a:solidFill>
              </a:rPr>
              <a:t>view</a:t>
            </a:r>
            <a:r>
              <a:rPr lang="pt-BR" sz="1200" dirty="0">
                <a:solidFill>
                  <a:srgbClr val="FF0000"/>
                </a:solidFill>
              </a:rPr>
              <a:t> será a pesquisa feita, onde temos um elemento que ignora o case </a:t>
            </a:r>
            <a:r>
              <a:rPr lang="pt-BR" sz="1200" dirty="0" err="1">
                <a:solidFill>
                  <a:srgbClr val="FF0000"/>
                </a:solidFill>
              </a:rPr>
              <a:t>sensitive</a:t>
            </a:r>
            <a:endParaRPr lang="pt-BR" sz="12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9748928-DAB4-C570-94E8-7E6211F3D394}"/>
              </a:ext>
            </a:extLst>
          </p:cNvPr>
          <p:cNvSpPr txBox="1"/>
          <p:nvPr/>
        </p:nvSpPr>
        <p:spPr>
          <a:xfrm>
            <a:off x="4917138" y="3705253"/>
            <a:ext cx="5121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FF0000"/>
                </a:solidFill>
              </a:rPr>
              <a:t>A </a:t>
            </a:r>
            <a:r>
              <a:rPr lang="pt-BR" sz="1200" dirty="0" err="1">
                <a:solidFill>
                  <a:srgbClr val="FF0000"/>
                </a:solidFill>
              </a:rPr>
              <a:t>viewbag</a:t>
            </a:r>
            <a:r>
              <a:rPr lang="pt-BR" sz="1200" dirty="0">
                <a:solidFill>
                  <a:srgbClr val="FF0000"/>
                </a:solidFill>
              </a:rPr>
              <a:t> se </a:t>
            </a:r>
            <a:r>
              <a:rPr lang="pt-BR" sz="1200" dirty="0" err="1">
                <a:solidFill>
                  <a:srgbClr val="FF0000"/>
                </a:solidFill>
              </a:rPr>
              <a:t>referea</a:t>
            </a:r>
            <a:r>
              <a:rPr lang="pt-BR" sz="1200" dirty="0">
                <a:solidFill>
                  <a:srgbClr val="FF0000"/>
                </a:solidFill>
              </a:rPr>
              <a:t> </a:t>
            </a:r>
            <a:r>
              <a:rPr lang="pt-BR" sz="1200" dirty="0" err="1">
                <a:solidFill>
                  <a:srgbClr val="FF0000"/>
                </a:solidFill>
              </a:rPr>
              <a:t>contrução</a:t>
            </a:r>
            <a:r>
              <a:rPr lang="pt-BR" sz="1200" dirty="0">
                <a:solidFill>
                  <a:srgbClr val="FF0000"/>
                </a:solidFill>
              </a:rPr>
              <a:t> do bloco/</a:t>
            </a:r>
            <a:r>
              <a:rPr lang="pt-BR" sz="1200" dirty="0" err="1">
                <a:solidFill>
                  <a:srgbClr val="FF0000"/>
                </a:solidFill>
              </a:rPr>
              <a:t>view</a:t>
            </a:r>
            <a:r>
              <a:rPr lang="pt-BR" sz="1200" dirty="0">
                <a:solidFill>
                  <a:srgbClr val="FF0000"/>
                </a:solidFill>
              </a:rPr>
              <a:t>. Aqui usamos 3 </a:t>
            </a:r>
            <a:r>
              <a:rPr lang="pt-BR" sz="1200" dirty="0" err="1">
                <a:solidFill>
                  <a:srgbClr val="FF0000"/>
                </a:solidFill>
              </a:rPr>
              <a:t>viewbags</a:t>
            </a:r>
            <a:r>
              <a:rPr lang="pt-BR" sz="1200" dirty="0">
                <a:solidFill>
                  <a:srgbClr val="FF0000"/>
                </a:solidFill>
              </a:rPr>
              <a:t>, porém para duas coisas apenas, a tipo e filtro apenas para mostrar o usuário e o termo seria o resultado de busca</a:t>
            </a:r>
          </a:p>
        </p:txBody>
      </p:sp>
    </p:spTree>
    <p:extLst>
      <p:ext uri="{BB962C8B-B14F-4D97-AF65-F5344CB8AC3E}">
        <p14:creationId xmlns:p14="http://schemas.microsoft.com/office/powerpoint/2010/main" val="31578920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C3759-B149-8B29-7840-D0545A8CF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F482E-4FB8-9B98-2962-503F093BB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UsuarioController</a:t>
            </a:r>
            <a:endParaRPr lang="pt-BR" dirty="0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8287FB21-0477-4577-15F0-AB3447E80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4291" y="1316736"/>
            <a:ext cx="5036548" cy="35941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DE87F0D-557A-18D3-9578-6FA18568C9A0}"/>
              </a:ext>
            </a:extLst>
          </p:cNvPr>
          <p:cNvSpPr txBox="1"/>
          <p:nvPr/>
        </p:nvSpPr>
        <p:spPr>
          <a:xfrm>
            <a:off x="5889108" y="1049750"/>
            <a:ext cx="2450219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Primeiro retornamos a </a:t>
            </a:r>
            <a:r>
              <a:rPr lang="pt-BR" dirty="0" err="1">
                <a:solidFill>
                  <a:srgbClr val="FF0000"/>
                </a:solidFill>
              </a:rPr>
              <a:t>view</a:t>
            </a:r>
            <a:r>
              <a:rPr lang="pt-BR" dirty="0">
                <a:solidFill>
                  <a:srgbClr val="FF0000"/>
                </a:solidFill>
              </a:rPr>
              <a:t> da tela de login, depois inserimos os dados e fazemos a verificação para ver se bate com os dados cadastrados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86A5D28-8FC4-1DE5-B5C5-6C2902330A3A}"/>
              </a:ext>
            </a:extLst>
          </p:cNvPr>
          <p:cNvSpPr txBox="1"/>
          <p:nvPr/>
        </p:nvSpPr>
        <p:spPr>
          <a:xfrm>
            <a:off x="5889108" y="3286775"/>
            <a:ext cx="5394588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 </a:t>
            </a:r>
            <a:r>
              <a:rPr lang="pt-BR" dirty="0" err="1">
                <a:solidFill>
                  <a:srgbClr val="FF0000"/>
                </a:solidFill>
              </a:rPr>
              <a:t>lsita</a:t>
            </a:r>
            <a:r>
              <a:rPr lang="pt-BR" dirty="0">
                <a:solidFill>
                  <a:srgbClr val="FF0000"/>
                </a:solidFill>
              </a:rPr>
              <a:t> de </a:t>
            </a:r>
            <a:r>
              <a:rPr lang="pt-BR" dirty="0" err="1">
                <a:solidFill>
                  <a:srgbClr val="FF0000"/>
                </a:solidFill>
              </a:rPr>
              <a:t>claim</a:t>
            </a:r>
            <a:r>
              <a:rPr lang="pt-BR" dirty="0">
                <a:solidFill>
                  <a:srgbClr val="FF0000"/>
                </a:solidFill>
              </a:rPr>
              <a:t> serve para armazenar os dados do usuário, sempre </a:t>
            </a:r>
            <a:r>
              <a:rPr lang="pt-BR" dirty="0" err="1">
                <a:solidFill>
                  <a:srgbClr val="FF0000"/>
                </a:solidFill>
              </a:rPr>
              <a:t>emcapsulando</a:t>
            </a:r>
            <a:r>
              <a:rPr lang="pt-BR" dirty="0">
                <a:solidFill>
                  <a:srgbClr val="FF0000"/>
                </a:solidFill>
              </a:rPr>
              <a:t> os valores</a:t>
            </a:r>
          </a:p>
          <a:p>
            <a:r>
              <a:rPr lang="pt-BR" dirty="0">
                <a:solidFill>
                  <a:srgbClr val="FF0000"/>
                </a:solidFill>
              </a:rPr>
              <a:t>Nome do usuário, </a:t>
            </a:r>
            <a:r>
              <a:rPr lang="pt-BR" dirty="0" err="1">
                <a:solidFill>
                  <a:srgbClr val="FF0000"/>
                </a:solidFill>
              </a:rPr>
              <a:t>email</a:t>
            </a:r>
            <a:r>
              <a:rPr lang="pt-BR" dirty="0">
                <a:solidFill>
                  <a:srgbClr val="FF0000"/>
                </a:solidFill>
              </a:rPr>
              <a:t>, tipo de usuário (role)</a:t>
            </a:r>
          </a:p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8815D68-E563-2228-A9E3-802A54E6F72A}"/>
              </a:ext>
            </a:extLst>
          </p:cNvPr>
          <p:cNvSpPr txBox="1"/>
          <p:nvPr/>
        </p:nvSpPr>
        <p:spPr>
          <a:xfrm>
            <a:off x="5889108" y="4563913"/>
            <a:ext cx="5394588" cy="1477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Criamos dados de autenticação e com eles validamos o usuário para que possa interagir com o programa, já que para poder fazer o login, ele precisa estar autenticado!</a:t>
            </a:r>
          </a:p>
          <a:p>
            <a:r>
              <a:rPr lang="pt-BR" dirty="0">
                <a:solidFill>
                  <a:srgbClr val="FF0000"/>
                </a:solidFill>
              </a:rPr>
              <a:t>Logo após o login ser validado (pelo “</a:t>
            </a:r>
            <a:r>
              <a:rPr lang="pt-BR" dirty="0" err="1">
                <a:solidFill>
                  <a:srgbClr val="FF0000"/>
                </a:solidFill>
              </a:rPr>
              <a:t>if</a:t>
            </a:r>
            <a:r>
              <a:rPr lang="pt-BR" dirty="0">
                <a:solidFill>
                  <a:srgbClr val="FF0000"/>
                </a:solidFill>
              </a:rPr>
              <a:t>”) retornamos para a home</a:t>
            </a:r>
          </a:p>
        </p:txBody>
      </p:sp>
    </p:spTree>
    <p:extLst>
      <p:ext uri="{BB962C8B-B14F-4D97-AF65-F5344CB8AC3E}">
        <p14:creationId xmlns:p14="http://schemas.microsoft.com/office/powerpoint/2010/main" val="29036823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97287-309E-9D0A-B77D-C35CF9385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F30E44-9862-3F1B-2F3C-CBF55F658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UsuarioController</a:t>
            </a:r>
            <a:endParaRPr lang="pt-BR" dirty="0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9367E635-8267-6D11-F1EF-A18ADB4DD6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6572" y="1334930"/>
            <a:ext cx="5039428" cy="225774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CE0672A-D405-A997-9784-489BBCEEE0C0}"/>
              </a:ext>
            </a:extLst>
          </p:cNvPr>
          <p:cNvSpPr txBox="1"/>
          <p:nvPr/>
        </p:nvSpPr>
        <p:spPr>
          <a:xfrm>
            <a:off x="6096000" y="1334930"/>
            <a:ext cx="2295525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Criando o logout, apenas </a:t>
            </a:r>
            <a:r>
              <a:rPr lang="pt-BR" dirty="0" err="1">
                <a:solidFill>
                  <a:srgbClr val="FF0000"/>
                </a:solidFill>
              </a:rPr>
              <a:t>desautenticamos</a:t>
            </a:r>
            <a:r>
              <a:rPr lang="pt-BR" dirty="0">
                <a:solidFill>
                  <a:srgbClr val="FF0000"/>
                </a:solidFill>
              </a:rPr>
              <a:t> do </a:t>
            </a:r>
            <a:r>
              <a:rPr lang="pt-BR" dirty="0" err="1">
                <a:solidFill>
                  <a:srgbClr val="FF0000"/>
                </a:solidFill>
              </a:rPr>
              <a:t>saphiraauth</a:t>
            </a:r>
            <a:r>
              <a:rPr lang="pt-BR" dirty="0">
                <a:solidFill>
                  <a:srgbClr val="FF0000"/>
                </a:solidFill>
              </a:rPr>
              <a:t> e retornamos para a tela de login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A9B99FD-7033-F82F-D376-518644C4F362}"/>
              </a:ext>
            </a:extLst>
          </p:cNvPr>
          <p:cNvSpPr txBox="1"/>
          <p:nvPr/>
        </p:nvSpPr>
        <p:spPr>
          <a:xfrm>
            <a:off x="4575048" y="3343562"/>
            <a:ext cx="2295525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Caso o acesso seja negado apenas retornamos uma </a:t>
            </a:r>
            <a:r>
              <a:rPr lang="pt-BR" dirty="0" err="1">
                <a:solidFill>
                  <a:srgbClr val="FF0000"/>
                </a:solidFill>
              </a:rPr>
              <a:t>view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4388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AA1FA-B6F6-3B0D-DF9F-8B09F9B5A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UsuarioController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0253703-B6DB-9622-2B34-B1056EFA72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678" y="1263033"/>
            <a:ext cx="8011643" cy="337232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7D04DE9-2ED7-1DE9-77B4-966C88EA486A}"/>
              </a:ext>
            </a:extLst>
          </p:cNvPr>
          <p:cNvSpPr txBox="1"/>
          <p:nvPr/>
        </p:nvSpPr>
        <p:spPr>
          <a:xfrm>
            <a:off x="6620256" y="2240280"/>
            <a:ext cx="3895344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No método de apoio, é onde criamos um objeto de </a:t>
            </a:r>
            <a:r>
              <a:rPr lang="pt-BR" dirty="0" err="1">
                <a:solidFill>
                  <a:srgbClr val="FF0000"/>
                </a:solidFill>
              </a:rPr>
              <a:t>usuarioViewModel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64B970E-183B-9E89-E216-46844BEA5E86}"/>
              </a:ext>
            </a:extLst>
          </p:cNvPr>
          <p:cNvSpPr txBox="1"/>
          <p:nvPr/>
        </p:nvSpPr>
        <p:spPr>
          <a:xfrm>
            <a:off x="6451317" y="3535680"/>
            <a:ext cx="3895344" cy="1477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O tipos usuário serve para em um </a:t>
            </a:r>
            <a:r>
              <a:rPr lang="pt-BR" dirty="0" err="1">
                <a:solidFill>
                  <a:srgbClr val="FF0000"/>
                </a:solidFill>
              </a:rPr>
              <a:t>dropdown</a:t>
            </a:r>
            <a:r>
              <a:rPr lang="pt-BR" dirty="0">
                <a:solidFill>
                  <a:srgbClr val="FF0000"/>
                </a:solidFill>
              </a:rPr>
              <a:t> considerar o valor de id do tipo usuário (1=</a:t>
            </a:r>
            <a:r>
              <a:rPr lang="pt-BR" dirty="0" err="1">
                <a:solidFill>
                  <a:srgbClr val="FF0000"/>
                </a:solidFill>
              </a:rPr>
              <a:t>adm</a:t>
            </a:r>
            <a:r>
              <a:rPr lang="pt-BR" dirty="0">
                <a:solidFill>
                  <a:srgbClr val="FF0000"/>
                </a:solidFill>
              </a:rPr>
              <a:t>/2=</a:t>
            </a:r>
            <a:r>
              <a:rPr lang="pt-BR" dirty="0" err="1">
                <a:solidFill>
                  <a:srgbClr val="FF0000"/>
                </a:solidFill>
              </a:rPr>
              <a:t>ger</a:t>
            </a:r>
            <a:r>
              <a:rPr lang="pt-BR" dirty="0">
                <a:solidFill>
                  <a:srgbClr val="FF0000"/>
                </a:solidFill>
              </a:rPr>
              <a:t>/3=outros)</a:t>
            </a:r>
          </a:p>
          <a:p>
            <a:r>
              <a:rPr lang="pt-BR" dirty="0">
                <a:solidFill>
                  <a:srgbClr val="FF0000"/>
                </a:solidFill>
              </a:rPr>
              <a:t>Porém o texto aparente é com as definições, os nomes de cada Role</a:t>
            </a:r>
          </a:p>
        </p:txBody>
      </p:sp>
    </p:spTree>
    <p:extLst>
      <p:ext uri="{BB962C8B-B14F-4D97-AF65-F5344CB8AC3E}">
        <p14:creationId xmlns:p14="http://schemas.microsoft.com/office/powerpoint/2010/main" val="19339078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4B9DB-CA8E-9404-8B6B-EE4B83E43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630A0-F113-7FE7-383D-5CCD2BCE7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UsuarioController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133E7D-F4A6-F8AE-7345-EDCA52B5E1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678" y="1280160"/>
            <a:ext cx="4528159" cy="35941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3F8B30F-CE9E-1CA2-8B33-074D831A2BA8}"/>
              </a:ext>
            </a:extLst>
          </p:cNvPr>
          <p:cNvSpPr txBox="1"/>
          <p:nvPr/>
        </p:nvSpPr>
        <p:spPr>
          <a:xfrm>
            <a:off x="5779837" y="1271230"/>
            <a:ext cx="3967667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Aqui usamos polimorfismo e sobrecarga de métodos(métodos iguais, porém com propriedades diferentes)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AD29955-67F8-B80E-DF1F-906A1DD3CEE1}"/>
              </a:ext>
            </a:extLst>
          </p:cNvPr>
          <p:cNvSpPr txBox="1"/>
          <p:nvPr/>
        </p:nvSpPr>
        <p:spPr>
          <a:xfrm>
            <a:off x="5779837" y="2203490"/>
            <a:ext cx="3967667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Primeiro carregamos a pagina</a:t>
            </a:r>
          </a:p>
          <a:p>
            <a:r>
              <a:rPr lang="pt-BR" dirty="0">
                <a:solidFill>
                  <a:srgbClr val="FF0000"/>
                </a:solidFill>
              </a:rPr>
              <a:t>Em seguida [</a:t>
            </a:r>
            <a:r>
              <a:rPr lang="pt-BR" dirty="0" err="1">
                <a:solidFill>
                  <a:srgbClr val="FF0000"/>
                </a:solidFill>
              </a:rPr>
              <a:t>httppost</a:t>
            </a:r>
            <a:r>
              <a:rPr lang="pt-BR" dirty="0">
                <a:solidFill>
                  <a:srgbClr val="FF0000"/>
                </a:solidFill>
              </a:rPr>
              <a:t>] </a:t>
            </a:r>
            <a:r>
              <a:rPr lang="pt-BR" dirty="0" err="1">
                <a:solidFill>
                  <a:srgbClr val="FF0000"/>
                </a:solidFill>
              </a:rPr>
              <a:t>insurimos</a:t>
            </a:r>
            <a:r>
              <a:rPr lang="pt-BR" dirty="0">
                <a:solidFill>
                  <a:srgbClr val="FF0000"/>
                </a:solidFill>
              </a:rPr>
              <a:t> os dados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5F6DF1C-3F22-A203-033F-780C6E353ED8}"/>
              </a:ext>
            </a:extLst>
          </p:cNvPr>
          <p:cNvSpPr txBox="1"/>
          <p:nvPr/>
        </p:nvSpPr>
        <p:spPr>
          <a:xfrm>
            <a:off x="5045269" y="4362985"/>
            <a:ext cx="3967667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Nessa parte atualizamos a pagina já com os novos dados</a:t>
            </a:r>
          </a:p>
        </p:txBody>
      </p:sp>
    </p:spTree>
    <p:extLst>
      <p:ext uri="{BB962C8B-B14F-4D97-AF65-F5344CB8AC3E}">
        <p14:creationId xmlns:p14="http://schemas.microsoft.com/office/powerpoint/2010/main" val="37413832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8511B-8980-CF3B-3661-43712B2CF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CE0978-8E43-472D-02A9-7A756895C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UsuarioController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41F7473-5BB9-4486-660C-631ECE57E3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678" y="1389384"/>
            <a:ext cx="7685080" cy="359410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465311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1005B-F834-D8E1-D74E-B5F29F536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E13CC-417C-4E09-C60F-57BAB2A9F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UsuarioController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6ACA87D-7BF2-8533-093D-E74C56AAEC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678" y="1389384"/>
            <a:ext cx="5000486" cy="35941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C6CCA99-A3DA-3627-9DCF-612139436B9E}"/>
              </a:ext>
            </a:extLst>
          </p:cNvPr>
          <p:cNvSpPr txBox="1"/>
          <p:nvPr/>
        </p:nvSpPr>
        <p:spPr>
          <a:xfrm>
            <a:off x="6445389" y="1549201"/>
            <a:ext cx="3330207" cy="31393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Aqui a atualização dos dados do usuário se dá quando o bloco USUARIO.NOME recebe o VIEWMODEL.NOME, ou seja. O bloco original recebe os dados inseridos pela </a:t>
            </a:r>
            <a:r>
              <a:rPr lang="pt-BR" dirty="0" err="1">
                <a:solidFill>
                  <a:srgbClr val="FF0000"/>
                </a:solidFill>
              </a:rPr>
              <a:t>viewmodel</a:t>
            </a:r>
            <a:r>
              <a:rPr lang="pt-BR" dirty="0">
                <a:solidFill>
                  <a:srgbClr val="FF0000"/>
                </a:solidFill>
              </a:rPr>
              <a:t>, OU SEJA, os dados colocados direto na tela, alterando assim os originais registrados no banco, ou aqueles criados durante o uso da aplicação</a:t>
            </a:r>
          </a:p>
        </p:txBody>
      </p:sp>
    </p:spTree>
    <p:extLst>
      <p:ext uri="{BB962C8B-B14F-4D97-AF65-F5344CB8AC3E}">
        <p14:creationId xmlns:p14="http://schemas.microsoft.com/office/powerpoint/2010/main" val="25324226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51AA6-F6E3-96E7-907E-10CC1A820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5F14C8-4595-3153-099F-306049DD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UsuarioController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30526B7-2795-3C91-EF59-9DF9D2E88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678" y="1352211"/>
            <a:ext cx="6154009" cy="302937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EC7E9E1-2557-476B-8FB7-2CEA10430B2A}"/>
              </a:ext>
            </a:extLst>
          </p:cNvPr>
          <p:cNvSpPr txBox="1"/>
          <p:nvPr/>
        </p:nvSpPr>
        <p:spPr>
          <a:xfrm>
            <a:off x="5413248" y="4864608"/>
            <a:ext cx="276710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Apenas o </a:t>
            </a:r>
            <a:r>
              <a:rPr lang="pt-BR" dirty="0" err="1">
                <a:solidFill>
                  <a:srgbClr val="FF0000"/>
                </a:solidFill>
              </a:rPr>
              <a:t>adm</a:t>
            </a:r>
            <a:r>
              <a:rPr lang="pt-BR" dirty="0">
                <a:solidFill>
                  <a:srgbClr val="FF0000"/>
                </a:solidFill>
              </a:rPr>
              <a:t> pode deletar</a:t>
            </a:r>
          </a:p>
        </p:txBody>
      </p:sp>
    </p:spTree>
    <p:extLst>
      <p:ext uri="{BB962C8B-B14F-4D97-AF65-F5344CB8AC3E}">
        <p14:creationId xmlns:p14="http://schemas.microsoft.com/office/powerpoint/2010/main" val="36146611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FDADB-016C-95E5-2FA0-58C57825D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F30C75-4AB2-6DCF-CD03-6DD124413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UsuarioController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06632B5-9CBB-EAC7-8087-8C7DD14977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1005" y="1225296"/>
            <a:ext cx="4664995" cy="35941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652BD62-A936-155D-AA86-4F0C5E6A94ED}"/>
              </a:ext>
            </a:extLst>
          </p:cNvPr>
          <p:cNvSpPr txBox="1"/>
          <p:nvPr/>
        </p:nvSpPr>
        <p:spPr>
          <a:xfrm>
            <a:off x="7498080" y="2724912"/>
            <a:ext cx="3447288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Aqui apenas o </a:t>
            </a:r>
            <a:r>
              <a:rPr lang="pt-BR" dirty="0" err="1">
                <a:solidFill>
                  <a:srgbClr val="FF0000"/>
                </a:solidFill>
              </a:rPr>
              <a:t>adm</a:t>
            </a:r>
            <a:r>
              <a:rPr lang="pt-BR" dirty="0">
                <a:solidFill>
                  <a:srgbClr val="FF0000"/>
                </a:solidFill>
              </a:rPr>
              <a:t> pode inativar ou reativar os usuários, atualizando o </a:t>
            </a:r>
            <a:r>
              <a:rPr lang="pt-BR" dirty="0" err="1">
                <a:solidFill>
                  <a:srgbClr val="FF0000"/>
                </a:solidFill>
              </a:rPr>
              <a:t>statudos</a:t>
            </a:r>
            <a:r>
              <a:rPr lang="pt-BR" dirty="0">
                <a:solidFill>
                  <a:srgbClr val="FF0000"/>
                </a:solidFill>
              </a:rPr>
              <a:t> de ativo ou inativo</a:t>
            </a:r>
          </a:p>
        </p:txBody>
      </p:sp>
    </p:spTree>
    <p:extLst>
      <p:ext uri="{BB962C8B-B14F-4D97-AF65-F5344CB8AC3E}">
        <p14:creationId xmlns:p14="http://schemas.microsoft.com/office/powerpoint/2010/main" val="9642783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162DF-9E43-B0E6-ABD2-A20F149F9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Program.cs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A99A477-022A-9043-625A-DEFCB41B02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13" y="870010"/>
            <a:ext cx="8534400" cy="324631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1DDAF09-852A-FB63-8C10-501B13CC0D99}"/>
              </a:ext>
            </a:extLst>
          </p:cNvPr>
          <p:cNvSpPr txBox="1"/>
          <p:nvPr/>
        </p:nvSpPr>
        <p:spPr>
          <a:xfrm>
            <a:off x="8708721" y="4311650"/>
            <a:ext cx="1670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Registrando os </a:t>
            </a:r>
            <a:r>
              <a:rPr lang="pt-BR" dirty="0" err="1">
                <a:solidFill>
                  <a:srgbClr val="FF0000"/>
                </a:solidFill>
              </a:rPr>
              <a:t>repositories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7915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CB820-9722-C19F-6A6D-A47FB7407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BD76E1-51E4-4E5B-2CB5-3BB57829C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Program.cs</a:t>
            </a:r>
            <a:endParaRPr lang="pt-BR" dirty="0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834EB82B-EFB4-24BC-1F38-B78C5DC31D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565" y="2636370"/>
            <a:ext cx="7821116" cy="305795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43B90C4-FC07-6758-4551-D5EA19ADC9D7}"/>
              </a:ext>
            </a:extLst>
          </p:cNvPr>
          <p:cNvSpPr txBox="1"/>
          <p:nvPr/>
        </p:nvSpPr>
        <p:spPr>
          <a:xfrm>
            <a:off x="8708721" y="4311650"/>
            <a:ext cx="16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autenticação</a:t>
            </a:r>
          </a:p>
        </p:txBody>
      </p:sp>
    </p:spTree>
    <p:extLst>
      <p:ext uri="{BB962C8B-B14F-4D97-AF65-F5344CB8AC3E}">
        <p14:creationId xmlns:p14="http://schemas.microsoft.com/office/powerpoint/2010/main" val="15125405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27E49-5F45-FD48-8D9C-82063B348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73241"/>
            <a:ext cx="10178322" cy="1492132"/>
          </a:xfrm>
        </p:spPr>
        <p:txBody>
          <a:bodyPr/>
          <a:lstStyle/>
          <a:p>
            <a:r>
              <a:rPr lang="pt-BR" dirty="0" err="1"/>
              <a:t>views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FE89E3-1BF5-A9D2-D3A4-C3146D54C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82684"/>
            <a:ext cx="2076738" cy="530351"/>
          </a:xfrm>
        </p:spPr>
        <p:txBody>
          <a:bodyPr>
            <a:normAutofit fontScale="62500" lnSpcReduction="20000"/>
          </a:bodyPr>
          <a:lstStyle/>
          <a:p>
            <a:r>
              <a:rPr lang="pt-BR" dirty="0">
                <a:solidFill>
                  <a:srgbClr val="FF0000"/>
                </a:solidFill>
              </a:rPr>
              <a:t>Cada </a:t>
            </a:r>
            <a:r>
              <a:rPr lang="pt-BR" dirty="0" err="1">
                <a:solidFill>
                  <a:srgbClr val="FF0000"/>
                </a:solidFill>
              </a:rPr>
              <a:t>controller</a:t>
            </a:r>
            <a:r>
              <a:rPr lang="pt-BR" dirty="0">
                <a:solidFill>
                  <a:srgbClr val="FF0000"/>
                </a:solidFill>
              </a:rPr>
              <a:t> precisa ter um </a:t>
            </a:r>
            <a:r>
              <a:rPr lang="pt-BR" dirty="0" err="1">
                <a:solidFill>
                  <a:srgbClr val="FF0000"/>
                </a:solidFill>
              </a:rPr>
              <a:t>view</a:t>
            </a:r>
            <a:endParaRPr lang="pt-BR" dirty="0">
              <a:solidFill>
                <a:srgbClr val="FF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2D81CF0-3712-BD18-4F11-F2F0B8727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8" y="1825337"/>
            <a:ext cx="6736080" cy="114157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2AFD85E-55E8-316A-B10B-37789D5E1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678" y="3429000"/>
            <a:ext cx="3952418" cy="274232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28FC52D-B524-8267-368C-2C652E764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44" y="3429000"/>
            <a:ext cx="3931920" cy="274232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72CB6A89-2B2B-0E87-CB23-6A045000B7E4}"/>
              </a:ext>
            </a:extLst>
          </p:cNvPr>
          <p:cNvSpPr txBox="1">
            <a:spLocks/>
          </p:cNvSpPr>
          <p:nvPr/>
        </p:nvSpPr>
        <p:spPr>
          <a:xfrm>
            <a:off x="7987758" y="1587988"/>
            <a:ext cx="3758040" cy="110442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rgbClr val="FF0000"/>
                </a:solidFill>
              </a:rPr>
              <a:t>Na pasta de </a:t>
            </a:r>
            <a:r>
              <a:rPr lang="pt-BR" dirty="0" err="1">
                <a:solidFill>
                  <a:srgbClr val="FF0000"/>
                </a:solidFill>
              </a:rPr>
              <a:t>view</a:t>
            </a:r>
            <a:r>
              <a:rPr lang="pt-BR" dirty="0">
                <a:solidFill>
                  <a:srgbClr val="FF0000"/>
                </a:solidFill>
              </a:rPr>
              <a:t>, adicionamos uma pasta filme, nessa pasta adicionamos um exibir, </a:t>
            </a:r>
            <a:r>
              <a:rPr lang="pt-BR" dirty="0" err="1">
                <a:solidFill>
                  <a:srgbClr val="FF0000"/>
                </a:solidFill>
              </a:rPr>
              <a:t>razor</a:t>
            </a:r>
            <a:r>
              <a:rPr lang="pt-BR" dirty="0">
                <a:solidFill>
                  <a:srgbClr val="FF0000"/>
                </a:solidFill>
              </a:rPr>
              <a:t> – vazio. Com nome padrão de </a:t>
            </a:r>
            <a:r>
              <a:rPr lang="pt-BR" dirty="0" err="1">
                <a:solidFill>
                  <a:srgbClr val="FF0000"/>
                </a:solidFill>
              </a:rPr>
              <a:t>index.cshtml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1AB1CA4-4B1F-B2C8-DA94-628B71A29A1B}"/>
              </a:ext>
            </a:extLst>
          </p:cNvPr>
          <p:cNvSpPr txBox="1"/>
          <p:nvPr/>
        </p:nvSpPr>
        <p:spPr>
          <a:xfrm>
            <a:off x="9656064" y="3429000"/>
            <a:ext cx="2328326" cy="23083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rgbClr val="FF0000"/>
                </a:solidFill>
              </a:rPr>
              <a:t>Cshtml</a:t>
            </a:r>
            <a:r>
              <a:rPr lang="pt-BR" dirty="0">
                <a:solidFill>
                  <a:srgbClr val="FF0000"/>
                </a:solidFill>
              </a:rPr>
              <a:t>, pois é um arquivo de </a:t>
            </a:r>
            <a:r>
              <a:rPr lang="pt-BR" dirty="0" err="1">
                <a:solidFill>
                  <a:srgbClr val="FF0000"/>
                </a:solidFill>
              </a:rPr>
              <a:t>html</a:t>
            </a:r>
            <a:r>
              <a:rPr lang="pt-BR" dirty="0">
                <a:solidFill>
                  <a:srgbClr val="FF0000"/>
                </a:solidFill>
              </a:rPr>
              <a:t> rodando no </a:t>
            </a:r>
            <a:r>
              <a:rPr lang="pt-BR" dirty="0" err="1">
                <a:solidFill>
                  <a:srgbClr val="FF0000"/>
                </a:solidFill>
              </a:rPr>
              <a:t>csharp</a:t>
            </a:r>
            <a:r>
              <a:rPr lang="pt-BR" dirty="0">
                <a:solidFill>
                  <a:srgbClr val="FF0000"/>
                </a:solidFill>
              </a:rPr>
              <a:t> para uso do </a:t>
            </a:r>
            <a:r>
              <a:rPr lang="pt-BR" dirty="0" err="1">
                <a:solidFill>
                  <a:srgbClr val="FF0000"/>
                </a:solidFill>
              </a:rPr>
              <a:t>razor</a:t>
            </a:r>
            <a:endParaRPr lang="pt-BR" dirty="0">
              <a:solidFill>
                <a:srgbClr val="FF0000"/>
              </a:solidFill>
            </a:endParaRPr>
          </a:p>
          <a:p>
            <a:endParaRPr lang="pt-BR" dirty="0">
              <a:solidFill>
                <a:srgbClr val="FF0000"/>
              </a:solidFill>
            </a:endParaRPr>
          </a:p>
          <a:p>
            <a:r>
              <a:rPr lang="pt-BR" dirty="0">
                <a:solidFill>
                  <a:srgbClr val="FF0000"/>
                </a:solidFill>
              </a:rPr>
              <a:t>*</a:t>
            </a:r>
            <a:r>
              <a:rPr lang="pt-BR" dirty="0" err="1">
                <a:solidFill>
                  <a:srgbClr val="FF0000"/>
                </a:solidFill>
              </a:rPr>
              <a:t>razor</a:t>
            </a:r>
            <a:r>
              <a:rPr lang="pt-BR" dirty="0">
                <a:solidFill>
                  <a:srgbClr val="FF0000"/>
                </a:solidFill>
              </a:rPr>
              <a:t> é um recurso usado justamente para misturar </a:t>
            </a:r>
            <a:r>
              <a:rPr lang="pt-BR" dirty="0" err="1">
                <a:solidFill>
                  <a:srgbClr val="FF0000"/>
                </a:solidFill>
              </a:rPr>
              <a:t>html</a:t>
            </a:r>
            <a:r>
              <a:rPr lang="pt-BR" dirty="0">
                <a:solidFill>
                  <a:srgbClr val="FF0000"/>
                </a:solidFill>
              </a:rPr>
              <a:t> e </a:t>
            </a:r>
            <a:r>
              <a:rPr lang="pt-BR" dirty="0" err="1">
                <a:solidFill>
                  <a:srgbClr val="FF0000"/>
                </a:solidFill>
              </a:rPr>
              <a:t>c#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4727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43080-15C4-EA4A-17AB-9B401126C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8462A-D811-53C7-086E-056777EC0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</a:t>
            </a:r>
            <a:r>
              <a:rPr lang="pt-BR" dirty="0"/>
              <a:t>\Filme\</a:t>
            </a:r>
            <a:r>
              <a:rPr lang="pt-BR" dirty="0" err="1"/>
              <a:t>cshtml.cs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B85647A-91BF-6A64-DAC2-B17CD09D04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13" y="694909"/>
            <a:ext cx="8534400" cy="359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0618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9F648-562F-2938-47AF-6DF077AB5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D2AA7-AC92-7E23-9865-1C0B3F491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</a:t>
            </a:r>
            <a:r>
              <a:rPr lang="pt-BR" dirty="0"/>
              <a:t>\Filme\</a:t>
            </a:r>
            <a:r>
              <a:rPr lang="pt-BR" dirty="0" err="1"/>
              <a:t>cshtml.cs</a:t>
            </a:r>
            <a:endParaRPr lang="pt-BR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35C6929C-C9CB-4C7B-7B78-38B6DD1A0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034" y="685800"/>
            <a:ext cx="7563787" cy="361473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4C52CB1-321B-391C-8CE9-3604F45E1483}"/>
              </a:ext>
            </a:extLst>
          </p:cNvPr>
          <p:cNvSpPr txBox="1"/>
          <p:nvPr/>
        </p:nvSpPr>
        <p:spPr>
          <a:xfrm>
            <a:off x="7272003" y="314340"/>
            <a:ext cx="69281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FF0000"/>
                </a:solidFill>
              </a:rPr>
              <a:t>form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47DA41C-7B30-7CDB-7312-BD38AA083A48}"/>
              </a:ext>
            </a:extLst>
          </p:cNvPr>
          <p:cNvSpPr txBox="1"/>
          <p:nvPr/>
        </p:nvSpPr>
        <p:spPr>
          <a:xfrm>
            <a:off x="5651021" y="2720413"/>
            <a:ext cx="361669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FF0000"/>
                </a:solidFill>
              </a:rPr>
              <a:t>Viewbag</a:t>
            </a:r>
            <a:r>
              <a:rPr lang="pt-BR" dirty="0">
                <a:solidFill>
                  <a:srgbClr val="FF0000"/>
                </a:solidFill>
              </a:rPr>
              <a:t>/</a:t>
            </a:r>
            <a:r>
              <a:rPr lang="pt-BR" dirty="0" err="1">
                <a:solidFill>
                  <a:srgbClr val="FF0000"/>
                </a:solidFill>
              </a:rPr>
              <a:t>dropdown</a:t>
            </a:r>
            <a:r>
              <a:rPr lang="pt-BR" dirty="0">
                <a:solidFill>
                  <a:srgbClr val="FF0000"/>
                </a:solidFill>
              </a:rPr>
              <a:t> de busca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8261ECC-8609-C352-F273-B79CE30FED73}"/>
              </a:ext>
            </a:extLst>
          </p:cNvPr>
          <p:cNvSpPr txBox="1"/>
          <p:nvPr/>
        </p:nvSpPr>
        <p:spPr>
          <a:xfrm>
            <a:off x="5651021" y="3234540"/>
            <a:ext cx="64793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filtro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FBDB81E-AAB3-3632-0791-FBB32A913BF7}"/>
              </a:ext>
            </a:extLst>
          </p:cNvPr>
          <p:cNvSpPr txBox="1"/>
          <p:nvPr/>
        </p:nvSpPr>
        <p:spPr>
          <a:xfrm>
            <a:off x="5651021" y="3748667"/>
            <a:ext cx="87876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busca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5E9B657-D95F-0A28-EB4C-144E3D992392}"/>
              </a:ext>
            </a:extLst>
          </p:cNvPr>
          <p:cNvSpPr txBox="1"/>
          <p:nvPr/>
        </p:nvSpPr>
        <p:spPr>
          <a:xfrm>
            <a:off x="7835421" y="1711927"/>
            <a:ext cx="433163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FF0000"/>
                </a:solidFill>
              </a:rPr>
              <a:t>Foreach</a:t>
            </a:r>
            <a:r>
              <a:rPr lang="pt-BR" dirty="0">
                <a:solidFill>
                  <a:srgbClr val="FF0000"/>
                </a:solidFill>
              </a:rPr>
              <a:t> para exibir todos os </a:t>
            </a:r>
            <a:r>
              <a:rPr lang="pt-BR" dirty="0" err="1">
                <a:solidFill>
                  <a:srgbClr val="FF0000"/>
                </a:solidFill>
              </a:rPr>
              <a:t>generos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CFA8800-357A-4F4F-9376-7AD192C47DFD}"/>
              </a:ext>
            </a:extLst>
          </p:cNvPr>
          <p:cNvSpPr txBox="1"/>
          <p:nvPr/>
        </p:nvSpPr>
        <p:spPr>
          <a:xfrm>
            <a:off x="7835420" y="1333775"/>
            <a:ext cx="4331635" cy="4308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1100" dirty="0" err="1">
                <a:solidFill>
                  <a:srgbClr val="FF0000"/>
                </a:solidFill>
              </a:rPr>
              <a:t>Foreache</a:t>
            </a:r>
            <a:r>
              <a:rPr lang="pt-BR" sz="1100" dirty="0">
                <a:solidFill>
                  <a:srgbClr val="FF0000"/>
                </a:solidFill>
              </a:rPr>
              <a:t> serve para rodar um ciclo durante todos os itens que já estão registrados</a:t>
            </a:r>
          </a:p>
        </p:txBody>
      </p:sp>
    </p:spTree>
    <p:extLst>
      <p:ext uri="{BB962C8B-B14F-4D97-AF65-F5344CB8AC3E}">
        <p14:creationId xmlns:p14="http://schemas.microsoft.com/office/powerpoint/2010/main" val="21766266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490AC-1550-79A7-1F52-A5DADB98B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E6CE8-3FC9-8B5C-DB0F-71F04B99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</a:t>
            </a:r>
            <a:r>
              <a:rPr lang="pt-BR" dirty="0"/>
              <a:t>\Filme\index\</a:t>
            </a:r>
            <a:r>
              <a:rPr lang="pt-BR" dirty="0" err="1"/>
              <a:t>cshtml.cs</a:t>
            </a:r>
            <a:endParaRPr lang="pt-BR" dirty="0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0590A7B6-0ACE-ED2D-1AFC-10C357AA80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452" y="270162"/>
            <a:ext cx="7284994" cy="436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141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478E1-3AD1-D7BE-E8EB-52458927A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</a:t>
            </a:r>
            <a:r>
              <a:rPr lang="pt-BR" dirty="0"/>
              <a:t>\Filme\</a:t>
            </a:r>
            <a:r>
              <a:rPr lang="pt-BR" dirty="0" err="1"/>
              <a:t>Create</a:t>
            </a:r>
            <a:r>
              <a:rPr lang="pt-BR" dirty="0"/>
              <a:t>\</a:t>
            </a:r>
            <a:r>
              <a:rPr lang="pt-BR" dirty="0" err="1"/>
              <a:t>cshtml.cs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AC50A04-8D32-F4B5-0C78-DFF7C4C2B0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964" y="669029"/>
            <a:ext cx="6325483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043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DD562-A700-FAE0-C07E-EB1DC89FF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691D2-12C0-CEA7-737E-D3677E088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</a:t>
            </a:r>
            <a:r>
              <a:rPr lang="pt-BR" dirty="0"/>
              <a:t>\ Filme\</a:t>
            </a:r>
            <a:r>
              <a:rPr lang="pt-BR" dirty="0" err="1"/>
              <a:t>Create</a:t>
            </a:r>
            <a:r>
              <a:rPr lang="pt-BR" dirty="0"/>
              <a:t>\</a:t>
            </a:r>
            <a:r>
              <a:rPr lang="pt-BR" dirty="0" err="1"/>
              <a:t>cshtml.cs</a:t>
            </a:r>
            <a:endParaRPr lang="pt-BR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E6EBA733-3C32-EC1C-6A4D-22EA78AD0F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2296" y="454891"/>
            <a:ext cx="4419116" cy="361473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D2D4DBA-14C5-2164-9028-EC7AA0288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849" y="454891"/>
            <a:ext cx="5984224" cy="202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374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5D9B-692B-FC37-E434-132D9862C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F1E21-00A0-5FA8-605D-47F2564C1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</a:t>
            </a:r>
            <a:r>
              <a:rPr lang="pt-BR" dirty="0"/>
              <a:t>\ Filme\</a:t>
            </a:r>
            <a:r>
              <a:rPr lang="pt-BR" dirty="0" err="1"/>
              <a:t>edit</a:t>
            </a:r>
            <a:r>
              <a:rPr lang="pt-BR" dirty="0"/>
              <a:t>\</a:t>
            </a:r>
            <a:r>
              <a:rPr lang="pt-BR" dirty="0" err="1"/>
              <a:t>cshtml.cs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4C666BE-FED7-31CB-DCA7-94E318A78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204281"/>
            <a:ext cx="4481175" cy="478508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3728781-07E0-C66B-80BC-836C65AC6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081" y="204281"/>
            <a:ext cx="6244485" cy="337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664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3DB6-DB5A-84AA-68DA-F7EE85DC0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C0EF2-A4EA-5411-0FCB-3FBDDC732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</a:t>
            </a:r>
            <a:r>
              <a:rPr lang="pt-BR" dirty="0"/>
              <a:t>\ Filme\delete\</a:t>
            </a:r>
            <a:r>
              <a:rPr lang="pt-BR" dirty="0" err="1"/>
              <a:t>cshtml.cs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3856C2E-30BC-4A20-47D6-6DE39551A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0"/>
            <a:ext cx="373392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498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6C3CB5-FAB3-44A1-0F16-BF69AAEDA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C1178D-1A5C-2CF1-D427-DF4B158D3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7362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B8762-DAF6-51E5-9493-44D89C60D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Views</a:t>
            </a:r>
            <a:r>
              <a:rPr lang="pt-BR" dirty="0"/>
              <a:t>\</a:t>
            </a:r>
            <a:r>
              <a:rPr lang="pt-BR" dirty="0" err="1"/>
              <a:t>shared</a:t>
            </a:r>
            <a:r>
              <a:rPr lang="pt-BR" dirty="0"/>
              <a:t>\_</a:t>
            </a:r>
            <a:r>
              <a:rPr lang="pt-BR" dirty="0" err="1"/>
              <a:t>usuariologado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6EE41B1-1E18-41AF-8180-CA408D8F45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12" y="237744"/>
            <a:ext cx="5624252" cy="288645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57B3E8A-353B-B923-45C7-EBB6F5B18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512" y="237744"/>
            <a:ext cx="5410200" cy="375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809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7F873-DD31-0958-0C22-6A1776AC9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09CAAE-D5CB-F23A-AD16-CC3197C4F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Vácuo de informação</a:t>
            </a:r>
          </a:p>
        </p:txBody>
      </p:sp>
    </p:spTree>
    <p:extLst>
      <p:ext uri="{BB962C8B-B14F-4D97-AF65-F5344CB8AC3E}">
        <p14:creationId xmlns:p14="http://schemas.microsoft.com/office/powerpoint/2010/main" val="7876067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91EB9-14B7-E499-FE89-CFD75E22C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A46614-0236-103D-48B1-CEEB2397F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Criamos uma api para poder fazer a busca dos dados que estão cadastrados</a:t>
            </a:r>
          </a:p>
          <a:p>
            <a:r>
              <a:rPr lang="pt-BR" dirty="0"/>
              <a:t>O filtro: serve para conectar as informações como filtrar filmes por gêneros.</a:t>
            </a:r>
          </a:p>
          <a:p>
            <a:pPr lvl="1"/>
            <a:r>
              <a:rPr lang="pt-BR" dirty="0"/>
              <a:t>Ainda não fizemos a conexão com o front, mas o Swagger funciona</a:t>
            </a:r>
          </a:p>
        </p:txBody>
      </p:sp>
    </p:spTree>
    <p:extLst>
      <p:ext uri="{BB962C8B-B14F-4D97-AF65-F5344CB8AC3E}">
        <p14:creationId xmlns:p14="http://schemas.microsoft.com/office/powerpoint/2010/main" val="18931400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04903-1722-290E-66E2-EF018EF22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172823-4EE0-78F5-0833-9C80A1A4B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 o </a:t>
            </a:r>
            <a:r>
              <a:rPr lang="pt-BR" dirty="0" err="1"/>
              <a:t>mvc</a:t>
            </a:r>
            <a:r>
              <a:rPr lang="pt-BR" dirty="0"/>
              <a:t> pronto, criamos uma nova api para fazer a consulta dos filtros.</a:t>
            </a:r>
          </a:p>
          <a:p>
            <a:r>
              <a:rPr lang="pt-BR" dirty="0"/>
              <a:t>Na outra solução no </a:t>
            </a:r>
            <a:r>
              <a:rPr lang="pt-BR" dirty="0" err="1"/>
              <a:t>appsettings.json</a:t>
            </a:r>
            <a:r>
              <a:rPr lang="pt-BR" dirty="0"/>
              <a:t> nós pegamos a connection </a:t>
            </a:r>
            <a:r>
              <a:rPr lang="pt-BR" dirty="0" err="1"/>
              <a:t>string</a:t>
            </a:r>
            <a:r>
              <a:rPr lang="pt-BR" dirty="0"/>
              <a:t> e igual à solução principal</a:t>
            </a:r>
          </a:p>
          <a:p>
            <a:r>
              <a:rPr lang="pt-BR" dirty="0"/>
              <a:t>Vamos também na </a:t>
            </a:r>
            <a:r>
              <a:rPr lang="pt-BR" dirty="0" err="1"/>
              <a:t>program</a:t>
            </a:r>
            <a:r>
              <a:rPr lang="pt-BR" dirty="0"/>
              <a:t> pegar a conexão com o DB e os repositório</a:t>
            </a:r>
          </a:p>
          <a:p>
            <a:r>
              <a:rPr lang="pt-BR" dirty="0"/>
              <a:t>Na soluçã0o de api criamos os </a:t>
            </a:r>
            <a:r>
              <a:rPr lang="pt-BR" dirty="0" err="1"/>
              <a:t>dtos</a:t>
            </a:r>
            <a:r>
              <a:rPr lang="pt-BR" dirty="0"/>
              <a:t> que vamos usar </a:t>
            </a:r>
          </a:p>
          <a:p>
            <a:r>
              <a:rPr lang="pt-BR" dirty="0"/>
              <a:t>No caso para exibir os </a:t>
            </a:r>
            <a:r>
              <a:rPr lang="pt-BR" dirty="0" err="1"/>
              <a:t>gets</a:t>
            </a:r>
            <a:endParaRPr lang="pt-BR" dirty="0"/>
          </a:p>
          <a:p>
            <a:r>
              <a:rPr lang="pt-BR" dirty="0"/>
              <a:t>Logo após vamos para as </a:t>
            </a:r>
            <a:r>
              <a:rPr lang="pt-BR" dirty="0" err="1"/>
              <a:t>controller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4357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6271F970-BE62-7A06-3A97-E59A90B7D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527" y="179311"/>
            <a:ext cx="4619285" cy="2335740"/>
          </a:xfrm>
          <a:prstGeom prst="rect">
            <a:avLst/>
          </a:prstGeom>
        </p:spPr>
      </p:pic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7E326D28-063F-4C12-1CA4-52CE934C0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408" y="1093261"/>
            <a:ext cx="4486469" cy="2335739"/>
          </a:xfrm>
          <a:prstGeom prst="rect">
            <a:avLst/>
          </a:prstGeom>
        </p:spPr>
      </p:pic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959151F1-9038-D73E-0476-58795257D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408" y="4351270"/>
            <a:ext cx="4619285" cy="1651383"/>
          </a:xfrm>
          <a:prstGeom prst="rect">
            <a:avLst/>
          </a:prstGeom>
        </p:spPr>
      </p:pic>
      <p:pic>
        <p:nvPicPr>
          <p:cNvPr id="7" name="Imagem 6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444B53DA-C1D5-BB56-8514-7D0D71C24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013" y="4049393"/>
            <a:ext cx="3258312" cy="2255138"/>
          </a:xfrm>
          <a:prstGeom prst="rect">
            <a:avLst/>
          </a:prstGeom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CFF86ECE-854D-4A85-03BB-D8CF268096B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750812" y="1347181"/>
            <a:ext cx="1180596" cy="913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507AE68D-3ECC-2479-DC74-3C9F5417683B}"/>
              </a:ext>
            </a:extLst>
          </p:cNvPr>
          <p:cNvCxnSpPr>
            <a:cxnSpLocks/>
            <a:stCxn id="5" idx="1"/>
            <a:endCxn id="7" idx="0"/>
          </p:cNvCxnSpPr>
          <p:nvPr/>
        </p:nvCxnSpPr>
        <p:spPr>
          <a:xfrm flipH="1">
            <a:off x="2441169" y="2261131"/>
            <a:ext cx="3490239" cy="1788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4D2E47BD-2FAD-3F65-FD20-EDE638A88AF9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4070325" y="5176962"/>
            <a:ext cx="1861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370494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Azul Quent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1349</TotalTime>
  <Words>1681</Words>
  <Application>Microsoft Office PowerPoint</Application>
  <PresentationFormat>Widescreen</PresentationFormat>
  <Paragraphs>233</Paragraphs>
  <Slides>69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69</vt:i4>
      </vt:variant>
    </vt:vector>
  </HeadingPairs>
  <TitlesOfParts>
    <vt:vector size="73" baseType="lpstr">
      <vt:lpstr>Aptos</vt:lpstr>
      <vt:lpstr>Century Gothic</vt:lpstr>
      <vt:lpstr>Wingdings 3</vt:lpstr>
      <vt:lpstr>Fatia</vt:lpstr>
      <vt:lpstr>Projeto do ZeroFlow</vt:lpstr>
      <vt:lpstr>Observações – 01:</vt:lpstr>
      <vt:lpstr>Criar Projeto</vt:lpstr>
      <vt:lpstr>  Definição dos espaços</vt:lpstr>
      <vt:lpstr>Criando Estrutura  Gerenciador de soluções (Ctrl + Shift + E) </vt:lpstr>
      <vt:lpstr>Pacotes</vt:lpstr>
      <vt:lpstr>Instalando pacotes</vt:lpstr>
      <vt:lpstr>Instalando pacotes</vt:lpstr>
      <vt:lpstr>Modelos/ Models</vt:lpstr>
      <vt:lpstr>Modelos/ Models</vt:lpstr>
      <vt:lpstr>Modelos/ Models</vt:lpstr>
      <vt:lpstr>Data\DbContext (DbSets)</vt:lpstr>
      <vt:lpstr>Data\DbContext (DbSets)</vt:lpstr>
      <vt:lpstr>appsettings.json</vt:lpstr>
      <vt:lpstr>Program.cs</vt:lpstr>
      <vt:lpstr>Migration &gt; inicial entities</vt:lpstr>
      <vt:lpstr>seedMigration</vt:lpstr>
      <vt:lpstr>seedMigration-estrutura</vt:lpstr>
      <vt:lpstr>Interfaces</vt:lpstr>
      <vt:lpstr>Criando interface</vt:lpstr>
      <vt:lpstr>Interface\IClassificacaoRepository </vt:lpstr>
      <vt:lpstr>Interface\IUsuarioRepository</vt:lpstr>
      <vt:lpstr>Repositories</vt:lpstr>
      <vt:lpstr>ClassificacaoRepository</vt:lpstr>
      <vt:lpstr>Apresentação do PowerPoint</vt:lpstr>
      <vt:lpstr>Async e await: Quando usamos um método await, a função precisa ser assíncrona</vt:lpstr>
      <vt:lpstr>Apresentação do PowerPoint</vt:lpstr>
      <vt:lpstr>Apresentação do PowerPoint</vt:lpstr>
      <vt:lpstr>UsuarioRepository</vt:lpstr>
      <vt:lpstr>ViewModels</vt:lpstr>
      <vt:lpstr>FilmeViewModel</vt:lpstr>
      <vt:lpstr>UsuarioViewModel</vt:lpstr>
      <vt:lpstr>FilmeDTO</vt:lpstr>
      <vt:lpstr>Controller</vt:lpstr>
      <vt:lpstr>FilmeController</vt:lpstr>
      <vt:lpstr>FilmeController</vt:lpstr>
      <vt:lpstr>FilmeController</vt:lpstr>
      <vt:lpstr>FilmeController</vt:lpstr>
      <vt:lpstr>FilmeController</vt:lpstr>
      <vt:lpstr>FilmeController</vt:lpstr>
      <vt:lpstr>FilmeController</vt:lpstr>
      <vt:lpstr>FilmeController</vt:lpstr>
      <vt:lpstr>FilmeController</vt:lpstr>
      <vt:lpstr>UsuarioController</vt:lpstr>
      <vt:lpstr>UsuarioController</vt:lpstr>
      <vt:lpstr>UsuarioController</vt:lpstr>
      <vt:lpstr>UsuarioController</vt:lpstr>
      <vt:lpstr>UsuarioController</vt:lpstr>
      <vt:lpstr>UsuarioController</vt:lpstr>
      <vt:lpstr>UsuarioController</vt:lpstr>
      <vt:lpstr>UsuarioController</vt:lpstr>
      <vt:lpstr>UsuarioController</vt:lpstr>
      <vt:lpstr>UsuarioController</vt:lpstr>
      <vt:lpstr>Program.cs</vt:lpstr>
      <vt:lpstr>Program.cs</vt:lpstr>
      <vt:lpstr>views</vt:lpstr>
      <vt:lpstr>View\Filme\cshtml.cs</vt:lpstr>
      <vt:lpstr>View\Filme\cshtml.cs</vt:lpstr>
      <vt:lpstr>View\Filme\index\cshtml.cs</vt:lpstr>
      <vt:lpstr>View\Filme\Create\cshtml.cs</vt:lpstr>
      <vt:lpstr>View\ Filme\Create\cshtml.cs</vt:lpstr>
      <vt:lpstr>View\ Filme\edit\cshtml.cs</vt:lpstr>
      <vt:lpstr>View\ Filme\delete\cshtml.cs</vt:lpstr>
      <vt:lpstr>Apresentação do PowerPoint</vt:lpstr>
      <vt:lpstr>Views\shared\_usuariologado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FILIPE ALEXANDRE DA SILVA</dc:creator>
  <cp:lastModifiedBy>FILIPE ALEXANDRE DA SILVA</cp:lastModifiedBy>
  <cp:revision>20</cp:revision>
  <dcterms:created xsi:type="dcterms:W3CDTF">2025-08-04T23:23:55Z</dcterms:created>
  <dcterms:modified xsi:type="dcterms:W3CDTF">2025-09-10T22:34:51Z</dcterms:modified>
</cp:coreProperties>
</file>